
<file path=[Content_Types].xml><?xml version="1.0" encoding="utf-8"?>
<Types xmlns="http://schemas.openxmlformats.org/package/2006/content-types">
  <Default Extension="jpe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89" r:id="rId4"/>
    <p:sldId id="262" r:id="rId5"/>
    <p:sldId id="290" r:id="rId6"/>
    <p:sldId id="301" r:id="rId7"/>
    <p:sldId id="263" r:id="rId8"/>
    <p:sldId id="264" r:id="rId9"/>
    <p:sldId id="293" r:id="rId10"/>
    <p:sldId id="291" r:id="rId11"/>
    <p:sldId id="292" r:id="rId12"/>
    <p:sldId id="294" r:id="rId13"/>
    <p:sldId id="334" r:id="rId14"/>
    <p:sldId id="302" r:id="rId15"/>
    <p:sldId id="303" r:id="rId16"/>
    <p:sldId id="324" r:id="rId17"/>
    <p:sldId id="326" r:id="rId18"/>
    <p:sldId id="325" r:id="rId19"/>
    <p:sldId id="327" r:id="rId20"/>
    <p:sldId id="328" r:id="rId21"/>
    <p:sldId id="329" r:id="rId22"/>
    <p:sldId id="330" r:id="rId23"/>
    <p:sldId id="308" r:id="rId24"/>
    <p:sldId id="318" r:id="rId25"/>
    <p:sldId id="317" r:id="rId26"/>
    <p:sldId id="316" r:id="rId27"/>
    <p:sldId id="305" r:id="rId28"/>
    <p:sldId id="333" r:id="rId29"/>
    <p:sldId id="272" r:id="rId30"/>
    <p:sldId id="276" r:id="rId31"/>
    <p:sldId id="312" r:id="rId32"/>
    <p:sldId id="313" r:id="rId33"/>
    <p:sldId id="285" r:id="rId34"/>
    <p:sldId id="314" r:id="rId35"/>
    <p:sldId id="315" r:id="rId36"/>
    <p:sldId id="260" r:id="rId37"/>
    <p:sldId id="277" r:id="rId38"/>
    <p:sldId id="288" r:id="rId39"/>
    <p:sldId id="295" r:id="rId40"/>
    <p:sldId id="332" r:id="rId41"/>
    <p:sldId id="322" r:id="rId42"/>
    <p:sldId id="321" r:id="rId4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0C2E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19"/>
    <p:restoredTop sz="94731"/>
  </p:normalViewPr>
  <p:slideViewPr>
    <p:cSldViewPr snapToGrid="0">
      <p:cViewPr varScale="1">
        <p:scale>
          <a:sx n="145" d="100"/>
          <a:sy n="145" d="100"/>
        </p:scale>
        <p:origin x="49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7" d="100"/>
          <a:sy n="117" d="100"/>
        </p:scale>
        <p:origin x="395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Total Successful Vulnerability Discoveries</a:t>
            </a:r>
            <a:r>
              <a:rPr lang="en-US" sz="2000" b="0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+ </a:t>
            </a:r>
            <a:r>
              <a:rPr lang="en-US" sz="2000" b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Patches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048568603614341"/>
          <c:y val="0.13481191111704782"/>
          <c:w val="0.83237372426435818"/>
          <c:h val="0.7546757631796846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Successful Patches (pass@1)</c:v>
                </c:pt>
              </c:strCache>
            </c:strRef>
          </c:tx>
          <c:spPr>
            <a:solidFill>
              <a:srgbClr val="55828B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5828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08E-184C-BEB8-6E0D1ACC8E7A}"/>
              </c:ext>
            </c:extLst>
          </c:dPt>
          <c:dPt>
            <c:idx val="1"/>
            <c:invertIfNegative val="0"/>
            <c:bubble3D val="0"/>
            <c:spPr>
              <a:solidFill>
                <a:srgbClr val="55828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08E-184C-BEB8-6E0D1ACC8E7A}"/>
              </c:ext>
            </c:extLst>
          </c:dPt>
          <c:dPt>
            <c:idx val="2"/>
            <c:invertIfNegative val="0"/>
            <c:bubble3D val="0"/>
            <c:spPr>
              <a:solidFill>
                <a:srgbClr val="55828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08E-184C-BEB8-6E0D1ACC8E7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B96F312-9AC9-CB4B-9509-FD4A9F18CDB8}" type="VALUE">
                      <a:rPr lang="en-US" b="1" smtClean="0"/>
                      <a:pPr/>
                      <a:t>[VALUE]</a:t>
                    </a:fld>
                    <a:r>
                      <a:rPr lang="en-US" b="1" dirty="0"/>
                      <a:t>/14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308E-184C-BEB8-6E0D1ACC8E7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432C954-70D4-8748-928F-5BAD5CAB3299}" type="VALUE">
                      <a:rPr lang="en-US" b="1" smtClean="0"/>
                      <a:pPr/>
                      <a:t>[VALUE]</a:t>
                    </a:fld>
                    <a:r>
                      <a:rPr lang="en-US" b="1" dirty="0"/>
                      <a:t>/14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08E-184C-BEB8-6E0D1ACC8E7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B1952C1-139D-EA4E-BE98-3C4730BFBD8B}" type="VALUE">
                      <a:rPr lang="en-US" b="1" smtClean="0"/>
                      <a:pPr/>
                      <a:t>[VALUE]</a:t>
                    </a:fld>
                    <a:r>
                      <a:rPr lang="en-US" b="1" dirty="0"/>
                      <a:t>/14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308E-184C-BEB8-6E0D1ACC8E7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Ghidra</c:v>
                </c:pt>
                <c:pt idx="1">
                  <c:v>IDA Pro</c:v>
                </c:pt>
                <c:pt idx="2">
                  <c:v>Source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5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08E-184C-BEB8-6E0D1ACC8E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91459999"/>
        <c:axId val="791637327"/>
      </c:barChart>
      <c:catAx>
        <c:axId val="7914599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791637327"/>
        <c:crosses val="autoZero"/>
        <c:auto val="1"/>
        <c:lblAlgn val="ctr"/>
        <c:lblOffset val="100"/>
        <c:noMultiLvlLbl val="0"/>
      </c:catAx>
      <c:valAx>
        <c:axId val="7916373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14599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A0C2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61C-0B4C-B2B9-33CFC3B3B052}"/>
              </c:ext>
            </c:extLst>
          </c:dPt>
          <c:cat>
            <c:strRef>
              <c:f>Sheet1!$A$2:$A$5</c:f>
              <c:strCache>
                <c:ptCount val="4"/>
                <c:pt idx="1">
                  <c:v>IDA Pro</c:v>
                </c:pt>
                <c:pt idx="2">
                  <c:v>angr</c:v>
                </c:pt>
                <c:pt idx="3">
                  <c:v>Ghidra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16806</c:v>
                </c:pt>
                <c:pt idx="2">
                  <c:v>16282</c:v>
                </c:pt>
                <c:pt idx="3">
                  <c:v>12833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1C-0B4C-B2B9-33CFC3B3B0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96721279"/>
        <c:axId val="1984974335"/>
      </c:barChart>
      <c:catAx>
        <c:axId val="2096721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4974335"/>
        <c:crosses val="autoZero"/>
        <c:auto val="1"/>
        <c:lblAlgn val="ctr"/>
        <c:lblOffset val="100"/>
        <c:noMultiLvlLbl val="0"/>
      </c:catAx>
      <c:valAx>
        <c:axId val="19849743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672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A0C2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61C-0B4C-B2B9-33CFC3B3B052}"/>
              </c:ext>
            </c:extLst>
          </c:dPt>
          <c:cat>
            <c:strRef>
              <c:f>Sheet1!$A$2:$A$5</c:f>
              <c:strCache>
                <c:ptCount val="4"/>
                <c:pt idx="1">
                  <c:v>IDA Pro</c:v>
                </c:pt>
                <c:pt idx="2">
                  <c:v>angr</c:v>
                </c:pt>
                <c:pt idx="3">
                  <c:v>Ghidra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16806</c:v>
                </c:pt>
                <c:pt idx="2">
                  <c:v>16282</c:v>
                </c:pt>
                <c:pt idx="3">
                  <c:v>12833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1C-0B4C-B2B9-33CFC3B3B0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96721279"/>
        <c:axId val="1984974335"/>
      </c:barChart>
      <c:catAx>
        <c:axId val="2096721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4974335"/>
        <c:crosses val="autoZero"/>
        <c:auto val="1"/>
        <c:lblAlgn val="ctr"/>
        <c:lblOffset val="100"/>
        <c:noMultiLvlLbl val="0"/>
      </c:catAx>
      <c:valAx>
        <c:axId val="19849743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672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A0C2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61C-0B4C-B2B9-33CFC3B3B052}"/>
              </c:ext>
            </c:extLst>
          </c:dPt>
          <c:cat>
            <c:strRef>
              <c:f>Sheet1!$A$2:$A$5</c:f>
              <c:strCache>
                <c:ptCount val="4"/>
                <c:pt idx="0">
                  <c:v>Kuna</c:v>
                </c:pt>
                <c:pt idx="1">
                  <c:v>IDA Pro</c:v>
                </c:pt>
                <c:pt idx="2">
                  <c:v>angr</c:v>
                </c:pt>
                <c:pt idx="3">
                  <c:v>Ghidra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17613</c:v>
                </c:pt>
                <c:pt idx="1">
                  <c:v>16806</c:v>
                </c:pt>
                <c:pt idx="2">
                  <c:v>16282</c:v>
                </c:pt>
                <c:pt idx="3">
                  <c:v>12833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1C-0B4C-B2B9-33CFC3B3B0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96721279"/>
        <c:axId val="1984974335"/>
      </c:barChart>
      <c:catAx>
        <c:axId val="2096721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4974335"/>
        <c:crosses val="autoZero"/>
        <c:auto val="1"/>
        <c:lblAlgn val="ctr"/>
        <c:lblOffset val="100"/>
        <c:noMultiLvlLbl val="0"/>
      </c:catAx>
      <c:valAx>
        <c:axId val="1984974335"/>
        <c:scaling>
          <c:orientation val="minMax"/>
          <c:max val="18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672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A0C2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61C-0B4C-B2B9-33CFC3B3B052}"/>
              </c:ext>
            </c:extLst>
          </c:dPt>
          <c:cat>
            <c:strRef>
              <c:f>Sheet1!$A$2:$A$5</c:f>
              <c:strCache>
                <c:ptCount val="4"/>
                <c:pt idx="0">
                  <c:v>Kuna</c:v>
                </c:pt>
                <c:pt idx="1">
                  <c:v>IDA Pro</c:v>
                </c:pt>
                <c:pt idx="2">
                  <c:v>angr</c:v>
                </c:pt>
                <c:pt idx="3">
                  <c:v>Ghidra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17613</c:v>
                </c:pt>
                <c:pt idx="1">
                  <c:v>16806</c:v>
                </c:pt>
                <c:pt idx="2">
                  <c:v>16282</c:v>
                </c:pt>
                <c:pt idx="3">
                  <c:v>12833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1C-0B4C-B2B9-33CFC3B3B0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96721279"/>
        <c:axId val="1984974335"/>
      </c:barChart>
      <c:catAx>
        <c:axId val="2096721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4974335"/>
        <c:crosses val="autoZero"/>
        <c:auto val="1"/>
        <c:lblAlgn val="ctr"/>
        <c:lblOffset val="100"/>
        <c:noMultiLvlLbl val="0"/>
      </c:catAx>
      <c:valAx>
        <c:axId val="1984974335"/>
        <c:scaling>
          <c:orientation val="minMax"/>
          <c:max val="18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672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A0C2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61C-0B4C-B2B9-33CFC3B3B052}"/>
              </c:ext>
            </c:extLst>
          </c:dPt>
          <c:cat>
            <c:strRef>
              <c:f>Sheet1!$A$2:$A$5</c:f>
              <c:strCache>
                <c:ptCount val="4"/>
                <c:pt idx="0">
                  <c:v>Kuna</c:v>
                </c:pt>
                <c:pt idx="1">
                  <c:v>IDA Pro</c:v>
                </c:pt>
                <c:pt idx="2">
                  <c:v>angr</c:v>
                </c:pt>
                <c:pt idx="3">
                  <c:v>Ghidra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17613</c:v>
                </c:pt>
                <c:pt idx="1">
                  <c:v>16806</c:v>
                </c:pt>
                <c:pt idx="2">
                  <c:v>16282</c:v>
                </c:pt>
                <c:pt idx="3">
                  <c:v>12833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1C-0B4C-B2B9-33CFC3B3B0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96721279"/>
        <c:axId val="1984974335"/>
      </c:barChart>
      <c:catAx>
        <c:axId val="2096721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4974335"/>
        <c:crosses val="autoZero"/>
        <c:auto val="1"/>
        <c:lblAlgn val="ctr"/>
        <c:lblOffset val="100"/>
        <c:noMultiLvlLbl val="0"/>
      </c:catAx>
      <c:valAx>
        <c:axId val="1984974335"/>
        <c:scaling>
          <c:orientation val="minMax"/>
          <c:max val="18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672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52F2EB-A664-C14B-8596-04B107BF47F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8DBEC-8450-8245-A9DF-2BFFEA6FA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06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8DBEC-8450-8245-A9DF-2BFFEA6FA6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515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8DBEC-8450-8245-A9DF-2BFFEA6FA6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9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fb815488ed_3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g3fb815488ed_3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b815488ed_3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g3fb815488ed_3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>
          <a:extLst>
            <a:ext uri="{FF2B5EF4-FFF2-40B4-BE49-F238E27FC236}">
              <a16:creationId xmlns:a16="http://schemas.microsoft.com/office/drawing/2014/main" id="{7E66502D-4D69-ADBC-B599-2AB188A10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b815488ed_3_422:notes">
            <a:extLst>
              <a:ext uri="{FF2B5EF4-FFF2-40B4-BE49-F238E27FC236}">
                <a16:creationId xmlns:a16="http://schemas.microsoft.com/office/drawing/2014/main" id="{B1197A7E-58DA-C1BA-42C7-F01CA30C70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g3fb815488ed_3_422:notes">
            <a:extLst>
              <a:ext uri="{FF2B5EF4-FFF2-40B4-BE49-F238E27FC236}">
                <a16:creationId xmlns:a16="http://schemas.microsoft.com/office/drawing/2014/main" id="{17000A5F-6C56-1DBB-6CC0-030470F5AA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4363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>
          <a:extLst>
            <a:ext uri="{FF2B5EF4-FFF2-40B4-BE49-F238E27FC236}">
              <a16:creationId xmlns:a16="http://schemas.microsoft.com/office/drawing/2014/main" id="{B13864A2-F083-7F95-62CB-B806E8638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b815488ed_3_422:notes">
            <a:extLst>
              <a:ext uri="{FF2B5EF4-FFF2-40B4-BE49-F238E27FC236}">
                <a16:creationId xmlns:a16="http://schemas.microsoft.com/office/drawing/2014/main" id="{70277676-F93A-D946-4866-C3297FC0D8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g3fb815488ed_3_422:notes">
            <a:extLst>
              <a:ext uri="{FF2B5EF4-FFF2-40B4-BE49-F238E27FC236}">
                <a16:creationId xmlns:a16="http://schemas.microsoft.com/office/drawing/2014/main" id="{D8915096-D762-D057-84BE-B14B090097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0730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A63A1-D997-8E7B-8124-42C22FC8C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F313D-40D2-8F5D-DD15-4CC326A0A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6FD11-3BC0-21FE-2F9F-1EC87AEB2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0AFE1-F927-51A3-2051-5962B3AA5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F8DBEC-8450-8245-A9DF-2BFFEA6FA6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4562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CDA3B-05E1-4B1D-D079-04C9570FC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F83FB-2FD5-8A3D-9CDC-30D40B535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58DDA0-14CA-5F58-AAD3-88039F055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5A71F-8217-1C64-FDDE-2CE4658D7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F8DBEC-8450-8245-A9DF-2BFFEA6FA6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3697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39FD5-B52C-1CFD-3B22-F95BF672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5AA29-1948-B411-477F-17CBF504B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9479B-ED49-F28F-39E1-D06A43D71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C1C86-8A01-7354-E781-2072663D0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F8DBEC-8450-8245-A9DF-2BFFEA6FA6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330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CC828-71B0-64B4-76FA-79398C9EA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38A826-A478-1856-103C-6B28F8FF3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0CDE6-529C-3723-F786-1EF2218AA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58485-B2B1-02D8-B780-929E7A8CF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F8DBEC-8450-8245-A9DF-2BFFEA6FA6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123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38FBD-7574-7489-85E7-F7943EB33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697AF-1143-3488-D63E-F0165FA70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5439E-173E-9C3B-F480-731F46E34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0C3B4-EF0E-1DC8-8DEF-51F668127A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F8DBEC-8450-8245-A9DF-2BFFEA6FA6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897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C0154-F055-B5BD-2E72-1F5BEE961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98F5A-2358-6C31-0D5D-526652447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7EFE2-FFBE-9FA6-8FB3-92253F3C7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B52B9-C436-011B-0893-FA618B46E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F8DBEC-8450-8245-A9DF-2BFFEA6FA6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48091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36647-FDEC-A340-C74E-3F3F6BE0F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E8C936-C064-5965-A279-160EDDF7C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9C258-9BFD-A68F-E0AD-9FC0C56C1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7E40E-FB02-3142-493A-1FB331A5D6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F8DBEC-8450-8245-A9DF-2BFFEA6FA6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91080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CE86D-B0F7-E640-1CAE-DF3E6DE73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D1177-A9CD-6A2C-CB7D-D158EA7A2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41858-2356-C9F1-D673-1144EE0D4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4578E-9892-830C-9200-2C338BC94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F8DBEC-8450-8245-A9DF-2BFFEA6FA6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589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692D2-7915-C914-A7D6-84F656E67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6B568-C029-0D6B-D921-A21D107D3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DF656-0BAC-FCDC-63E0-4A5E32291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2D1D2-EDE4-15B7-484A-1C3B9E09C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F8DBEC-8450-8245-A9DF-2BFFEA6FA6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2727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>
          <a:extLst>
            <a:ext uri="{FF2B5EF4-FFF2-40B4-BE49-F238E27FC236}">
              <a16:creationId xmlns:a16="http://schemas.microsoft.com/office/drawing/2014/main" id="{BC691BB4-FA39-6AB2-0923-7DCE60C06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b815488ed_3_422:notes">
            <a:extLst>
              <a:ext uri="{FF2B5EF4-FFF2-40B4-BE49-F238E27FC236}">
                <a16:creationId xmlns:a16="http://schemas.microsoft.com/office/drawing/2014/main" id="{4C3D24AE-98A4-912B-5BB2-D29DCBC6BF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g3fb815488ed_3_422:notes">
            <a:extLst>
              <a:ext uri="{FF2B5EF4-FFF2-40B4-BE49-F238E27FC236}">
                <a16:creationId xmlns:a16="http://schemas.microsoft.com/office/drawing/2014/main" id="{A94C0AB0-E496-C7F7-A11D-CD07F56B4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73035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>
          <a:extLst>
            <a:ext uri="{FF2B5EF4-FFF2-40B4-BE49-F238E27FC236}">
              <a16:creationId xmlns:a16="http://schemas.microsoft.com/office/drawing/2014/main" id="{8730C907-842D-17CF-5795-A4C259ABE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b815488ed_3_422:notes">
            <a:extLst>
              <a:ext uri="{FF2B5EF4-FFF2-40B4-BE49-F238E27FC236}">
                <a16:creationId xmlns:a16="http://schemas.microsoft.com/office/drawing/2014/main" id="{593838D7-3AF6-4871-A7A7-7A25B245F5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g3fb815488ed_3_422:notes">
            <a:extLst>
              <a:ext uri="{FF2B5EF4-FFF2-40B4-BE49-F238E27FC236}">
                <a16:creationId xmlns:a16="http://schemas.microsoft.com/office/drawing/2014/main" id="{2DB93B52-2A78-CBBD-3DBE-5F135427E3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2893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14471-E378-4735-BF28-39DE23F28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BD083-2CD0-F469-EA9E-12BE8BC10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42B5E-803B-BCBE-10F7-7CC4DE2B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531E-41C5-4844-9B03-5E7408DC4E6B}" type="datetimeFigureOut">
              <a:rPr lang="en-IL" smtClean="0"/>
              <a:t>10/28/26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E45EB-5657-4B7B-9D93-94D5F422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4FDB-9B7D-3A1D-E094-F62CBEBB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7FAD-9408-1E41-B047-97CF294455B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30853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47A8-7267-4AEE-0AC7-CE58B70EE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616F6-FEDF-AEBC-1FB7-E7B1FCF9A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6A6A2-7BD2-7F5B-BE5D-37E09277A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531E-41C5-4844-9B03-5E7408DC4E6B}" type="datetimeFigureOut">
              <a:rPr lang="en-IL" smtClean="0"/>
              <a:t>10/28/26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BA4AC-1CFE-6CB3-C73E-D01BB4A5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FC64A-8092-0321-E469-53FD654C6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7FAD-9408-1E41-B047-97CF294455B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6038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13B67-438B-4E50-8935-FF97B4600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30F84-A211-BB11-6F15-9ACF40B08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C9CCC-AC4A-9483-65F9-C4A45100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531E-41C5-4844-9B03-5E7408DC4E6B}" type="datetimeFigureOut">
              <a:rPr lang="en-IL" smtClean="0"/>
              <a:t>10/28/26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A436F-3A47-6EF9-413B-0CAE5549C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BCD25-6326-4173-5531-7F2CAD450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7FAD-9408-1E41-B047-97CF294455B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37998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FD3C-AC8D-BB73-A1BA-4DEA6A29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3444E-4796-6CBE-122E-1111616BE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2357D-A1A0-E693-5D0E-4FA018FE4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956E0-BBF2-389F-44E0-DE49237A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531E-41C5-4844-9B03-5E7408DC4E6B}" type="datetimeFigureOut">
              <a:rPr lang="en-IL" smtClean="0"/>
              <a:t>10/28/26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B3B06-7883-C0A3-2A24-02A6AA08C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14CBF-197B-036B-E3CE-25D9B556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7FAD-9408-1E41-B047-97CF294455B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5066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27A7-B93E-1C7F-A4A6-5F227D0D4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936E7-3715-0DE4-10D8-7E0D6F77C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DB8DF-D077-110C-7243-82D3F2273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32767E-FBC1-2000-25DB-5CB73CC1C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A4C4A6-1BBB-E814-6859-4DA85D9E38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C4E400-FDDB-C499-D059-6BAA499C8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531E-41C5-4844-9B03-5E7408DC4E6B}" type="datetimeFigureOut">
              <a:rPr lang="en-IL" smtClean="0"/>
              <a:t>10/28/26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A3BC8C-7EA1-C33F-4FD8-6A7C649DD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3C8F8D-14A9-B6C9-E1CD-618B7C846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7FAD-9408-1E41-B047-97CF294455B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5579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C4DB1-C7EE-F659-D0BE-ED1EB9B4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A2DE4B-23D3-7E2F-8291-F3A7530ED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531E-41C5-4844-9B03-5E7408DC4E6B}" type="datetimeFigureOut">
              <a:rPr lang="en-IL" smtClean="0"/>
              <a:t>10/28/26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C0EE8-E36A-6592-B80F-7069B9274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2D0B5-D1EA-42B5-9FDE-0B30C7AA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7FAD-9408-1E41-B047-97CF294455B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8788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C33C3E-7451-FC5C-BC78-1300A2AA5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531E-41C5-4844-9B03-5E7408DC4E6B}" type="datetimeFigureOut">
              <a:rPr lang="en-IL" smtClean="0"/>
              <a:t>10/28/26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9CDCD-434D-2702-CDEF-9CB26AAF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91C5E-72AC-F549-7A13-5106CD62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7FAD-9408-1E41-B047-97CF294455B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1954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44ADD-D340-6188-EF98-516A6CFD5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CAF99-2025-8DD6-EE61-D06B8E9F8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6AD51-D512-6213-A30C-81E02FF56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62854-2158-4406-D640-C7A94AC7A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531E-41C5-4844-9B03-5E7408DC4E6B}" type="datetimeFigureOut">
              <a:rPr lang="en-IL" smtClean="0"/>
              <a:t>10/28/26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17556-E725-B81C-ACED-65325DB8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22DCF-CE3D-0A23-28AD-19B7BB98C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7FAD-9408-1E41-B047-97CF294455B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72338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0398-0679-11C2-65E4-3DB42D991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B21E89-8CB7-AA57-EA33-7D0A0433C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28DB0-6185-374B-EC46-258DE92F5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C0A57-FE9D-EDA9-B48D-0E7B82619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531E-41C5-4844-9B03-5E7408DC4E6B}" type="datetimeFigureOut">
              <a:rPr lang="en-IL" smtClean="0"/>
              <a:t>10/28/26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0F7D9-63EF-C185-263E-CA8263A40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7C14E-FCA9-6492-A27E-442E3752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7FAD-9408-1E41-B047-97CF294455B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9885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87C8B-6B8A-D1AB-33E0-1BB813EF6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42AF7B-F9AE-85ED-83A4-77358F351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43D19-5259-21C1-3E3D-1FFDC875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531E-41C5-4844-9B03-5E7408DC4E6B}" type="datetimeFigureOut">
              <a:rPr lang="en-IL" smtClean="0"/>
              <a:t>10/28/26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2011E-9369-1E5E-AFCC-01094482C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4840C-86EC-FEE1-3954-0266181ED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7FAD-9408-1E41-B047-97CF294455B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50386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FB6EDE-D3D9-E31D-E4BA-FF68C97FF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22475-66C2-6E37-5BF7-56419A080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D154A-7330-27DD-6956-275363454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531E-41C5-4844-9B03-5E7408DC4E6B}" type="datetimeFigureOut">
              <a:rPr lang="en-IL" smtClean="0"/>
              <a:t>10/28/26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7360D-6C2A-60A2-C3C5-89D0F9AA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83DB4-E16C-663B-C752-B1AD8F352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7FAD-9408-1E41-B047-97CF294455B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31422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28203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4727B4-014B-8460-A180-1F2688478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C8D4B-9940-F23B-C36E-2B1F0F1DF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FD04B-D2A9-2623-7B02-BC0833AE9A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25531E-41C5-4844-9B03-5E7408DC4E6B}" type="datetimeFigureOut">
              <a:rPr lang="en-IL" smtClean="0"/>
              <a:t>10/28/26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77E55-0714-956F-D443-0AFAAB551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07A31-5A5B-2158-3E8F-47C6E43CE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67FAD-9408-1E41-B047-97CF294455B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1350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youtube.com/watch?v=ncYo6ZqSRLw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youtube.com/watch?v=ncYo6ZqSRLw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org&amp;utm_campaign=index&amp;utm_content=thumbnai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decbench.com/" TargetMode="External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microsoft.com/office/2007/relationships/hdphoto" Target="../media/hdphoto1.wdp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microsoft.com/office/2007/relationships/hdphoto" Target="../media/hdphoto1.wdp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sv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microsoft.com/office/2007/relationships/hdphoto" Target="../media/hdphoto1.wdp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sv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microsoft.com/office/2007/relationships/hdphoto" Target="../media/hdphoto1.wdp"/><Relationship Id="rId4" Type="http://schemas.openxmlformats.org/officeDocument/2006/relationships/image" Target="../media/image24.png"/><Relationship Id="rId9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rluto/rea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compilation.wiki/#decompilation-paper-list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7.png"/><Relationship Id="rId7" Type="http://schemas.openxmlformats.org/officeDocument/2006/relationships/image" Target="../media/image4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Noelo-Lab/kuna/pull/771" TargetMode="External"/><Relationship Id="rId4" Type="http://schemas.openxmlformats.org/officeDocument/2006/relationships/hyperlink" Target="https://github.com/Noelo-Lab/kuna/pull/1134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decompile.ru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hyperlink" Target="https://zionbasque.com/" TargetMode="External"/><Relationship Id="rId4" Type="http://schemas.openxmlformats.org/officeDocument/2006/relationships/hyperlink" Target="https://github.com/noelo-lab/kuna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24.png"/><Relationship Id="rId4" Type="http://schemas.microsoft.com/office/2007/relationships/hdphoto" Target="../media/hdphoto2.wd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24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ED96-2701-237D-C970-0E58092EA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20018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Kuna: </a:t>
            </a:r>
            <a:br>
              <a:rPr lang="en-US" b="1" dirty="0"/>
            </a:br>
            <a:r>
              <a:rPr lang="en-US" sz="4400" dirty="0"/>
              <a:t>Building a Competitive C Decompiler Through Autonomous AI Research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37DAD-8AB5-04D6-6DD8-B9BFB3F74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9917" y="3682109"/>
            <a:ext cx="6092166" cy="1655762"/>
          </a:xfrm>
        </p:spPr>
        <p:txBody>
          <a:bodyPr/>
          <a:lstStyle/>
          <a:p>
            <a:r>
              <a:rPr lang="en-US" dirty="0">
                <a:solidFill>
                  <a:srgbClr val="BA0C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Zion </a:t>
            </a:r>
            <a:r>
              <a:rPr lang="en-US" dirty="0" err="1">
                <a:solidFill>
                  <a:srgbClr val="BA0C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Leonahenahe</a:t>
            </a:r>
            <a:r>
              <a:rPr lang="en-US" dirty="0">
                <a:solidFill>
                  <a:srgbClr val="BA0C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Basque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Assistant Professor, University of Georgia</a:t>
            </a:r>
            <a:endParaRPr lang="en-I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65CEB5E6-2432-6654-B23C-8004F2C29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399" y="5603876"/>
            <a:ext cx="3114220" cy="828677"/>
          </a:xfrm>
          <a:prstGeom prst="rect">
            <a:avLst/>
          </a:prstGeom>
        </p:spPr>
      </p:pic>
      <p:pic>
        <p:nvPicPr>
          <p:cNvPr id="5" name="Picture 4" descr="University of Georgia">
            <a:extLst>
              <a:ext uri="{FF2B5EF4-FFF2-40B4-BE49-F238E27FC236}">
                <a16:creationId xmlns:a16="http://schemas.microsoft.com/office/drawing/2014/main" id="{47826192-A6D6-0C72-B1E2-5CCE5AFF8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507" y="5473084"/>
            <a:ext cx="2924094" cy="95946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33B4212-9594-E97B-628D-A8A374315E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9027" y="286329"/>
            <a:ext cx="988290" cy="98829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49BC4B-388F-02D4-A58F-B0BD55C9A131}"/>
              </a:ext>
            </a:extLst>
          </p:cNvPr>
          <p:cNvCxnSpPr/>
          <p:nvPr/>
        </p:nvCxnSpPr>
        <p:spPr>
          <a:xfrm>
            <a:off x="1912776" y="3602038"/>
            <a:ext cx="890140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26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64453-34A2-1321-130F-8A3347999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8368" y="4522156"/>
            <a:ext cx="4937937" cy="13632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BUG ARE EVERYHWHERE!!1!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7C504F3-1DA0-FCB2-90CB-2AF19B0231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006" r="-1" b="10602"/>
          <a:stretch>
            <a:fillRect/>
          </a:stretch>
        </p:blipFill>
        <p:spPr>
          <a:xfrm>
            <a:off x="1246573" y="10"/>
            <a:ext cx="3913632" cy="2285224"/>
          </a:xfrm>
          <a:custGeom>
            <a:avLst/>
            <a:gdLst/>
            <a:ahLst/>
            <a:cxnLst/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988516-CA1F-62A1-4012-21D9180FC1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00" r="10993" b="-1"/>
          <a:stretch>
            <a:fillRect/>
          </a:stretch>
        </p:blipFill>
        <p:spPr>
          <a:xfrm>
            <a:off x="20" y="2288331"/>
            <a:ext cx="3564618" cy="4569668"/>
          </a:xfrm>
          <a:custGeom>
            <a:avLst/>
            <a:gdLst/>
            <a:ahLst/>
            <a:cxnLst/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0967" y="561316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0C2700-1364-D76E-7140-6B06800E3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" b="-4"/>
          <a:stretch>
            <a:fillRect/>
          </a:stretch>
        </p:blipFill>
        <p:spPr>
          <a:xfrm>
            <a:off x="5525559" y="725908"/>
            <a:ext cx="2852928" cy="2852928"/>
          </a:xfrm>
          <a:custGeom>
            <a:avLst/>
            <a:gdLst/>
            <a:ahLst/>
            <a:cxnLst/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B9D64DB-4D5C-4A91-B45F-F301E317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2"/>
            <a:ext cx="3439432" cy="3550083"/>
          </a:xfrm>
          <a:custGeom>
            <a:avLst/>
            <a:gdLst>
              <a:gd name="connsiteX0" fmla="*/ 115336 w 3439432"/>
              <a:gd name="connsiteY0" fmla="*/ 0 h 3550083"/>
              <a:gd name="connsiteX1" fmla="*/ 3439432 w 3439432"/>
              <a:gd name="connsiteY1" fmla="*/ 0 h 3550083"/>
              <a:gd name="connsiteX2" fmla="*/ 3439432 w 3439432"/>
              <a:gd name="connsiteY2" fmla="*/ 3462762 h 3550083"/>
              <a:gd name="connsiteX3" fmla="*/ 3318024 w 3439432"/>
              <a:gd name="connsiteY3" fmla="*/ 3493980 h 3550083"/>
              <a:gd name="connsiteX4" fmla="*/ 2761488 w 3439432"/>
              <a:gd name="connsiteY4" fmla="*/ 3550083 h 3550083"/>
              <a:gd name="connsiteX5" fmla="*/ 0 w 3439432"/>
              <a:gd name="connsiteY5" fmla="*/ 788595 h 3550083"/>
              <a:gd name="connsiteX6" fmla="*/ 70713 w 3439432"/>
              <a:gd name="connsiteY6" fmla="*/ 164949 h 355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550083">
                <a:moveTo>
                  <a:pt x="115336" y="0"/>
                </a:moveTo>
                <a:lnTo>
                  <a:pt x="3439432" y="0"/>
                </a:lnTo>
                <a:lnTo>
                  <a:pt x="3439432" y="3462762"/>
                </a:lnTo>
                <a:lnTo>
                  <a:pt x="3318024" y="3493980"/>
                </a:lnTo>
                <a:cubicBezTo>
                  <a:pt x="3138258" y="3530765"/>
                  <a:pt x="2952129" y="3550083"/>
                  <a:pt x="2761488" y="3550083"/>
                </a:cubicBezTo>
                <a:cubicBezTo>
                  <a:pt x="1236360" y="3550083"/>
                  <a:pt x="0" y="2313723"/>
                  <a:pt x="0" y="788595"/>
                </a:cubicBezTo>
                <a:cubicBezTo>
                  <a:pt x="0" y="574124"/>
                  <a:pt x="24450" y="365364"/>
                  <a:pt x="70713" y="164949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84800D-80C1-C26A-C3FD-18A989D72E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8" r="1636" b="3"/>
          <a:stretch>
            <a:fillRect/>
          </a:stretch>
        </p:blipFill>
        <p:spPr>
          <a:xfrm>
            <a:off x="8918761" y="-4331"/>
            <a:ext cx="3273238" cy="3383891"/>
          </a:xfrm>
          <a:custGeom>
            <a:avLst/>
            <a:gdLst/>
            <a:ahLst/>
            <a:cxnLst/>
            <a:rect l="l" t="t" r="r" b="b"/>
            <a:pathLst>
              <a:path w="3273238" h="3383891">
                <a:moveTo>
                  <a:pt x="122841" y="0"/>
                </a:moveTo>
                <a:lnTo>
                  <a:pt x="3273238" y="0"/>
                </a:lnTo>
                <a:lnTo>
                  <a:pt x="3273238" y="3291335"/>
                </a:lnTo>
                <a:lnTo>
                  <a:pt x="3118338" y="3331164"/>
                </a:lnTo>
                <a:cubicBezTo>
                  <a:pt x="2949390" y="3365736"/>
                  <a:pt x="2774463" y="3383891"/>
                  <a:pt x="2595295" y="3383891"/>
                </a:cubicBezTo>
                <a:cubicBezTo>
                  <a:pt x="1161953" y="3383891"/>
                  <a:pt x="0" y="2221938"/>
                  <a:pt x="0" y="788596"/>
                </a:cubicBezTo>
                <a:cubicBezTo>
                  <a:pt x="0" y="519845"/>
                  <a:pt x="40850" y="260634"/>
                  <a:pt x="116679" y="16835"/>
                </a:cubicBezTo>
                <a:close/>
              </a:path>
            </a:pathLst>
          </a:cu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B14CE1B-4BC5-4EF2-BE3D-05E4F580B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9331" y="3907418"/>
            <a:ext cx="2992669" cy="2950582"/>
          </a:xfrm>
          <a:custGeom>
            <a:avLst/>
            <a:gdLst>
              <a:gd name="connsiteX0" fmla="*/ 2052140 w 2992669"/>
              <a:gd name="connsiteY0" fmla="*/ 0 h 2950582"/>
              <a:gd name="connsiteX1" fmla="*/ 2850926 w 2992669"/>
              <a:gd name="connsiteY1" fmla="*/ 161267 h 2950582"/>
              <a:gd name="connsiteX2" fmla="*/ 2992669 w 2992669"/>
              <a:gd name="connsiteY2" fmla="*/ 229549 h 2950582"/>
              <a:gd name="connsiteX3" fmla="*/ 2992669 w 2992669"/>
              <a:gd name="connsiteY3" fmla="*/ 2950582 h 2950582"/>
              <a:gd name="connsiteX4" fmla="*/ 209274 w 2992669"/>
              <a:gd name="connsiteY4" fmla="*/ 2950582 h 2950582"/>
              <a:gd name="connsiteX5" fmla="*/ 161267 w 2992669"/>
              <a:gd name="connsiteY5" fmla="*/ 2850926 h 2950582"/>
              <a:gd name="connsiteX6" fmla="*/ 0 w 2992669"/>
              <a:gd name="connsiteY6" fmla="*/ 2052140 h 2950582"/>
              <a:gd name="connsiteX7" fmla="*/ 2052140 w 2992669"/>
              <a:gd name="connsiteY7" fmla="*/ 0 h 29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669" h="2950582">
                <a:moveTo>
                  <a:pt x="2052140" y="0"/>
                </a:moveTo>
                <a:cubicBezTo>
                  <a:pt x="2335482" y="0"/>
                  <a:pt x="2605411" y="57424"/>
                  <a:pt x="2850926" y="161267"/>
                </a:cubicBezTo>
                <a:lnTo>
                  <a:pt x="2992669" y="229549"/>
                </a:lnTo>
                <a:lnTo>
                  <a:pt x="2992669" y="2950582"/>
                </a:lnTo>
                <a:lnTo>
                  <a:pt x="209274" y="2950582"/>
                </a:lnTo>
                <a:lnTo>
                  <a:pt x="161267" y="2850926"/>
                </a:lnTo>
                <a:cubicBezTo>
                  <a:pt x="57423" y="2605411"/>
                  <a:pt x="0" y="2335482"/>
                  <a:pt x="0" y="2052140"/>
                </a:cubicBezTo>
                <a:cubicBezTo>
                  <a:pt x="0" y="918774"/>
                  <a:pt x="918774" y="0"/>
                  <a:pt x="20521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44BE26-D915-5AC1-F7A5-2186B8D7E1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88" r="1" b="1"/>
          <a:stretch>
            <a:fillRect/>
          </a:stretch>
        </p:blipFill>
        <p:spPr>
          <a:xfrm>
            <a:off x="9363236" y="4071322"/>
            <a:ext cx="2828765" cy="2786678"/>
          </a:xfrm>
          <a:custGeom>
            <a:avLst/>
            <a:gdLst/>
            <a:ahLst/>
            <a:cxnLst/>
            <a:rect l="l" t="t" r="r" b="b"/>
            <a:pathLst>
              <a:path w="2828765" h="2786678">
                <a:moveTo>
                  <a:pt x="1888236" y="0"/>
                </a:moveTo>
                <a:cubicBezTo>
                  <a:pt x="2214125" y="0"/>
                  <a:pt x="2520731" y="82558"/>
                  <a:pt x="2788281" y="227900"/>
                </a:cubicBezTo>
                <a:lnTo>
                  <a:pt x="2828765" y="252495"/>
                </a:lnTo>
                <a:lnTo>
                  <a:pt x="2828765" y="2786678"/>
                </a:lnTo>
                <a:lnTo>
                  <a:pt x="227128" y="2786678"/>
                </a:lnTo>
                <a:lnTo>
                  <a:pt x="148387" y="2623223"/>
                </a:lnTo>
                <a:cubicBezTo>
                  <a:pt x="52837" y="2397318"/>
                  <a:pt x="0" y="2148947"/>
                  <a:pt x="0" y="1888236"/>
                </a:cubicBezTo>
                <a:cubicBezTo>
                  <a:pt x="0" y="845392"/>
                  <a:pt x="845392" y="0"/>
                  <a:pt x="188823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09234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77A623-41D3-27B1-E20D-C56ABB15E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7713E-6326-57FB-6084-C40543469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LLMs and Source Code</a:t>
            </a:r>
            <a:endParaRPr lang="en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4B2AB4-494B-D77D-5379-083680BCE3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02"/>
          <a:stretch>
            <a:fillRect/>
          </a:stretch>
        </p:blipFill>
        <p:spPr>
          <a:xfrm>
            <a:off x="418322" y="1650763"/>
            <a:ext cx="5448547" cy="27719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E28E5A-32AB-F990-A697-F4CE56F5D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1437894"/>
            <a:ext cx="5666974" cy="21527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2D264B-F311-7A63-256B-9800A8628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010" y="3776641"/>
            <a:ext cx="5666974" cy="281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51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121F3-EDA5-3950-CE3B-D07207B48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545ED-9010-F228-03D1-5E24BED03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What About Closed-Source Binaries?</a:t>
            </a:r>
            <a:endParaRPr lang="en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F9D026-A9F2-8264-1EE0-64AC016BB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868" y="2352917"/>
            <a:ext cx="1685636" cy="168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65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D692F-FA97-2411-00E0-E186F0119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FA206-4455-1214-46B1-EC017046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What About Closed-Source Binaries?</a:t>
            </a:r>
            <a:endParaRPr lang="en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DAFB03-55D4-A471-5A62-7B3E6B0E5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855" y="1287624"/>
            <a:ext cx="2415873" cy="24158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A48D62-35ED-0615-9679-FCCFDC8FC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961" y="3750870"/>
            <a:ext cx="2971450" cy="2971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0E4990-BB42-D42F-FBBE-79F92557B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587" y="1240250"/>
            <a:ext cx="2510620" cy="2510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ECADFC-5245-F5BF-C14F-3116ED85E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868" y="2352917"/>
            <a:ext cx="1685636" cy="168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888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6BE91-79BC-E406-496A-19E7D4F9F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A3F75-4352-8CA7-EF37-662B719F3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LLMs and Binaries</a:t>
            </a:r>
            <a:endParaRPr lang="en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AFD4CC6-50A4-1814-B347-019509AD1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915" y="2807911"/>
            <a:ext cx="1685636" cy="1685636"/>
          </a:xfrm>
          <a:prstGeom prst="rect">
            <a:avLst/>
          </a:prstGeom>
        </p:spPr>
      </p:pic>
      <p:pic>
        <p:nvPicPr>
          <p:cNvPr id="25" name="Google Shape;781;p92">
            <a:extLst>
              <a:ext uri="{FF2B5EF4-FFF2-40B4-BE49-F238E27FC236}">
                <a16:creationId xmlns:a16="http://schemas.microsoft.com/office/drawing/2014/main" id="{E00E664B-1A74-D964-B00A-54BC843C88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2880" y="3061442"/>
            <a:ext cx="1073505" cy="10735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F9A643E-5753-DAF5-EE54-B83B99DBF85B}"/>
              </a:ext>
            </a:extLst>
          </p:cNvPr>
          <p:cNvCxnSpPr>
            <a:cxnSpLocks/>
          </p:cNvCxnSpPr>
          <p:nvPr/>
        </p:nvCxnSpPr>
        <p:spPr>
          <a:xfrm>
            <a:off x="3871373" y="3650729"/>
            <a:ext cx="849745" cy="0"/>
          </a:xfrm>
          <a:prstGeom prst="straightConnector1">
            <a:avLst/>
          </a:prstGeom>
          <a:ln w="38100">
            <a:solidFill>
              <a:srgbClr val="BA0C2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8" name="Picture 6">
            <a:extLst>
              <a:ext uri="{FF2B5EF4-FFF2-40B4-BE49-F238E27FC236}">
                <a16:creationId xmlns:a16="http://schemas.microsoft.com/office/drawing/2014/main" id="{87B86095-E44F-4850-5516-DD46CD77A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5716" y="1924507"/>
            <a:ext cx="938173" cy="9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EA60793-3AB3-0A2C-BE05-88A67197FAD7}"/>
              </a:ext>
            </a:extLst>
          </p:cNvPr>
          <p:cNvSpPr txBox="1"/>
          <p:nvPr/>
        </p:nvSpPr>
        <p:spPr>
          <a:xfrm>
            <a:off x="4598174" y="1315895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Decompiler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0AD619C-6A9B-C913-6342-09C62312F0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4" b="-4"/>
          <a:stretch>
            <a:fillRect/>
          </a:stretch>
        </p:blipFill>
        <p:spPr>
          <a:xfrm>
            <a:off x="9322540" y="3080645"/>
            <a:ext cx="1002725" cy="1002725"/>
          </a:xfrm>
          <a:custGeom>
            <a:avLst/>
            <a:gdLst/>
            <a:ahLst/>
            <a:cxnLst/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4FD1AF8F-11D8-1B4A-5116-A12D649A0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068" y="3227644"/>
            <a:ext cx="833821" cy="83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A869565-81E0-B1F2-07C3-A991ED8DF7E3}"/>
              </a:ext>
            </a:extLst>
          </p:cNvPr>
          <p:cNvCxnSpPr>
            <a:cxnSpLocks/>
          </p:cNvCxnSpPr>
          <p:nvPr/>
        </p:nvCxnSpPr>
        <p:spPr>
          <a:xfrm>
            <a:off x="6054185" y="3600947"/>
            <a:ext cx="849745" cy="0"/>
          </a:xfrm>
          <a:prstGeom prst="straightConnector1">
            <a:avLst/>
          </a:prstGeom>
          <a:ln w="38100">
            <a:solidFill>
              <a:srgbClr val="BA0C2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00EC6C5-6A6C-65A0-2AE7-8C51BD725D68}"/>
              </a:ext>
            </a:extLst>
          </p:cNvPr>
          <p:cNvCxnSpPr>
            <a:cxnSpLocks/>
          </p:cNvCxnSpPr>
          <p:nvPr/>
        </p:nvCxnSpPr>
        <p:spPr>
          <a:xfrm>
            <a:off x="8319590" y="3588470"/>
            <a:ext cx="849745" cy="0"/>
          </a:xfrm>
          <a:prstGeom prst="straightConnector1">
            <a:avLst/>
          </a:prstGeom>
          <a:ln w="38100">
            <a:solidFill>
              <a:srgbClr val="BA0C2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461F536-B53D-9149-E18E-07544C9B4AC7}"/>
              </a:ext>
            </a:extLst>
          </p:cNvPr>
          <p:cNvSpPr/>
          <p:nvPr/>
        </p:nvSpPr>
        <p:spPr>
          <a:xfrm>
            <a:off x="4422107" y="1779374"/>
            <a:ext cx="1757940" cy="3620523"/>
          </a:xfrm>
          <a:prstGeom prst="round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908DD0-9C62-44B9-DACA-557490C4D51F}"/>
              </a:ext>
            </a:extLst>
          </p:cNvPr>
          <p:cNvSpPr txBox="1"/>
          <p:nvPr/>
        </p:nvSpPr>
        <p:spPr>
          <a:xfrm>
            <a:off x="2530083" y="2615319"/>
            <a:ext cx="813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Binary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CD38D94-6C2B-6159-71D7-7E61516DA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068" y="4430797"/>
            <a:ext cx="938175" cy="9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514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8451B7-728C-74BB-8B7C-F782BA140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7592B-464A-0AA4-8247-4FB50979E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LLMs and Binaries and Less Bugs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</a:t>
            </a:r>
            <a:endParaRPr lang="en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1416261-AA55-4122-E770-B7E039FBD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915" y="2807911"/>
            <a:ext cx="1685636" cy="1685636"/>
          </a:xfrm>
          <a:prstGeom prst="rect">
            <a:avLst/>
          </a:prstGeom>
        </p:spPr>
      </p:pic>
      <p:pic>
        <p:nvPicPr>
          <p:cNvPr id="25" name="Google Shape;781;p92">
            <a:extLst>
              <a:ext uri="{FF2B5EF4-FFF2-40B4-BE49-F238E27FC236}">
                <a16:creationId xmlns:a16="http://schemas.microsoft.com/office/drawing/2014/main" id="{06672D76-6CCB-2DCC-0E30-941C61601B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2880" y="3061442"/>
            <a:ext cx="1073505" cy="10735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B8DD9EB-DAF5-F39A-EE7D-893F913D61AE}"/>
              </a:ext>
            </a:extLst>
          </p:cNvPr>
          <p:cNvCxnSpPr>
            <a:cxnSpLocks/>
          </p:cNvCxnSpPr>
          <p:nvPr/>
        </p:nvCxnSpPr>
        <p:spPr>
          <a:xfrm>
            <a:off x="3871373" y="3650729"/>
            <a:ext cx="849745" cy="0"/>
          </a:xfrm>
          <a:prstGeom prst="straightConnector1">
            <a:avLst/>
          </a:prstGeom>
          <a:ln w="38100">
            <a:solidFill>
              <a:srgbClr val="BA0C2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8" name="Picture 6">
            <a:extLst>
              <a:ext uri="{FF2B5EF4-FFF2-40B4-BE49-F238E27FC236}">
                <a16:creationId xmlns:a16="http://schemas.microsoft.com/office/drawing/2014/main" id="{C6414FE0-0CED-7D38-2B55-A8B952B05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5716" y="1924507"/>
            <a:ext cx="938173" cy="9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74A73E2-3493-2073-12A2-4BD453EF582F}"/>
              </a:ext>
            </a:extLst>
          </p:cNvPr>
          <p:cNvSpPr txBox="1"/>
          <p:nvPr/>
        </p:nvSpPr>
        <p:spPr>
          <a:xfrm>
            <a:off x="4598174" y="1315895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Decompiler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52406EB-2A58-CC6E-578B-0C41EA9500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4" b="-4"/>
          <a:stretch>
            <a:fillRect/>
          </a:stretch>
        </p:blipFill>
        <p:spPr>
          <a:xfrm>
            <a:off x="9322540" y="3080645"/>
            <a:ext cx="1002725" cy="1002725"/>
          </a:xfrm>
          <a:custGeom>
            <a:avLst/>
            <a:gdLst/>
            <a:ahLst/>
            <a:cxnLst/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</p:spPr>
      </p:pic>
      <p:sp>
        <p:nvSpPr>
          <p:cNvPr id="44" name="Google Shape;460;p74">
            <a:extLst>
              <a:ext uri="{FF2B5EF4-FFF2-40B4-BE49-F238E27FC236}">
                <a16:creationId xmlns:a16="http://schemas.microsoft.com/office/drawing/2014/main" id="{495D2BB6-0944-E6A9-287D-2CEF7BEFAECC}"/>
              </a:ext>
            </a:extLst>
          </p:cNvPr>
          <p:cNvSpPr/>
          <p:nvPr/>
        </p:nvSpPr>
        <p:spPr>
          <a:xfrm>
            <a:off x="9399029" y="3038390"/>
            <a:ext cx="849746" cy="1121753"/>
          </a:xfrm>
          <a:prstGeom prst="mathMultiply">
            <a:avLst>
              <a:gd name="adj1" fmla="val 23520"/>
            </a:avLst>
          </a:prstGeom>
          <a:solidFill>
            <a:srgbClr val="BA0C2E"/>
          </a:solidFill>
          <a:ln w="9525" cap="flat" cmpd="sng">
            <a:solidFill>
              <a:srgbClr val="BA0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C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FC68246C-A2C8-4F2C-F905-BF5C315AD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068" y="3227644"/>
            <a:ext cx="833821" cy="83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1F8E627-BCE4-2A59-539D-FA989626EFCE}"/>
              </a:ext>
            </a:extLst>
          </p:cNvPr>
          <p:cNvCxnSpPr>
            <a:cxnSpLocks/>
          </p:cNvCxnSpPr>
          <p:nvPr/>
        </p:nvCxnSpPr>
        <p:spPr>
          <a:xfrm>
            <a:off x="6054185" y="3600947"/>
            <a:ext cx="849745" cy="0"/>
          </a:xfrm>
          <a:prstGeom prst="straightConnector1">
            <a:avLst/>
          </a:prstGeom>
          <a:ln w="38100">
            <a:solidFill>
              <a:srgbClr val="BA0C2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A2DCCA0-B5F1-DACE-F12B-07955EB70938}"/>
              </a:ext>
            </a:extLst>
          </p:cNvPr>
          <p:cNvCxnSpPr>
            <a:cxnSpLocks/>
          </p:cNvCxnSpPr>
          <p:nvPr/>
        </p:nvCxnSpPr>
        <p:spPr>
          <a:xfrm>
            <a:off x="8319590" y="3588470"/>
            <a:ext cx="849745" cy="0"/>
          </a:xfrm>
          <a:prstGeom prst="straightConnector1">
            <a:avLst/>
          </a:prstGeom>
          <a:ln w="38100">
            <a:solidFill>
              <a:srgbClr val="BA0C2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B0CDE59-A8E4-E060-9DE6-3F82DAD23F7B}"/>
              </a:ext>
            </a:extLst>
          </p:cNvPr>
          <p:cNvSpPr/>
          <p:nvPr/>
        </p:nvSpPr>
        <p:spPr>
          <a:xfrm>
            <a:off x="4422107" y="1779374"/>
            <a:ext cx="1757940" cy="3620523"/>
          </a:xfrm>
          <a:prstGeom prst="round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638A6-E45E-D04D-B537-62997D070196}"/>
              </a:ext>
            </a:extLst>
          </p:cNvPr>
          <p:cNvSpPr txBox="1"/>
          <p:nvPr/>
        </p:nvSpPr>
        <p:spPr>
          <a:xfrm>
            <a:off x="2530083" y="2615319"/>
            <a:ext cx="813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Binary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8F92F74F-5E45-729E-8170-C7DCDD877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068" y="4430797"/>
            <a:ext cx="938175" cy="9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063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F09DDA-8EFB-D2A8-47D8-C4FAB106F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9A3D6-89EE-3930-63BC-8BFF0DBD6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LLMs and Decompilers</a:t>
            </a:r>
            <a:endParaRPr lang="en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735FDEA-FCBC-A381-DC62-A616A1DD88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6090613"/>
              </p:ext>
            </p:extLst>
          </p:nvPr>
        </p:nvGraphicFramePr>
        <p:xfrm>
          <a:off x="1608446" y="1195175"/>
          <a:ext cx="8049343" cy="50707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Picture 6">
            <a:extLst>
              <a:ext uri="{FF2B5EF4-FFF2-40B4-BE49-F238E27FC236}">
                <a16:creationId xmlns:a16="http://schemas.microsoft.com/office/drawing/2014/main" id="{324D0759-1D3F-E0FA-86A7-88F272626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87" y="4703911"/>
            <a:ext cx="917680" cy="91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926603-F828-06FC-232A-9D0FF5573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46" y="3289853"/>
            <a:ext cx="852159" cy="85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oogle Shape;766;p91">
            <a:extLst>
              <a:ext uri="{FF2B5EF4-FFF2-40B4-BE49-F238E27FC236}">
                <a16:creationId xmlns:a16="http://schemas.microsoft.com/office/drawing/2014/main" id="{43D59338-85CF-AACB-95EE-B9B84CBB4D1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452" y="2097122"/>
            <a:ext cx="759340" cy="75934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15DB65-AE89-F014-63C8-E703F9647F9C}"/>
              </a:ext>
            </a:extLst>
          </p:cNvPr>
          <p:cNvSpPr txBox="1"/>
          <p:nvPr/>
        </p:nvSpPr>
        <p:spPr>
          <a:xfrm>
            <a:off x="4145177" y="6222396"/>
            <a:ext cx="2975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DARPA </a:t>
            </a:r>
            <a:r>
              <a:rPr lang="en-US" dirty="0" err="1"/>
              <a:t>AIxCC</a:t>
            </a:r>
            <a:r>
              <a:rPr lang="en-US" dirty="0"/>
              <a:t> Nginx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AFF317-EDCF-6F05-16ED-0B5C32DB746A}"/>
              </a:ext>
            </a:extLst>
          </p:cNvPr>
          <p:cNvSpPr txBox="1"/>
          <p:nvPr/>
        </p:nvSpPr>
        <p:spPr>
          <a:xfrm>
            <a:off x="9619861" y="6333180"/>
            <a:ext cx="2252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i="1" dirty="0">
                <a:solidFill>
                  <a:prstClr val="black"/>
                </a:solidFill>
                <a:latin typeface="Aptos" panose="02110004020202020204"/>
              </a:rPr>
              <a:t>g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pt-5</a:t>
            </a:r>
          </a:p>
        </p:txBody>
      </p:sp>
    </p:spTree>
    <p:extLst>
      <p:ext uri="{BB962C8B-B14F-4D97-AF65-F5344CB8AC3E}">
        <p14:creationId xmlns:p14="http://schemas.microsoft.com/office/powerpoint/2010/main" val="1789786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8EC13-39D5-EB50-5249-50FA3117F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835A6F-7795-65BD-0654-87CD5005064F}"/>
              </a:ext>
            </a:extLst>
          </p:cNvPr>
          <p:cNvSpPr txBox="1">
            <a:spLocks/>
          </p:cNvSpPr>
          <p:nvPr/>
        </p:nvSpPr>
        <p:spPr>
          <a:xfrm>
            <a:off x="1524000" y="2237509"/>
            <a:ext cx="9144000" cy="200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800" b="1" dirty="0">
                <a:solidFill>
                  <a:srgbClr val="BA0C2E"/>
                </a:solidFill>
              </a:rPr>
              <a:t>Decompilers are flawed!</a:t>
            </a:r>
            <a:endParaRPr lang="en-US" dirty="0">
              <a:solidFill>
                <a:srgbClr val="BA0C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916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8" name="Google Shape;498;p79"/>
          <p:cNvGraphicFramePr/>
          <p:nvPr/>
        </p:nvGraphicFramePr>
        <p:xfrm>
          <a:off x="894937" y="702734"/>
          <a:ext cx="4347567" cy="54525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4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4525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>
                          <a:solidFill>
                            <a:srgbClr val="4078F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argc,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**argv) {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switch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(optchar) {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default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endParaRPr sz="1700" u="none" strike="noStrike" cap="none">
                        <a:highlight>
                          <a:srgbClr val="FAFAFA"/>
                        </a:highlight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   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case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>
                          <a:solidFill>
                            <a:srgbClr val="50A14F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'c'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case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>
                          <a:solidFill>
                            <a:srgbClr val="50A14F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's'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case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>
                          <a:solidFill>
                            <a:srgbClr val="50A14F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't'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case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>
                          <a:solidFill>
                            <a:srgbClr val="50A14F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'u'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case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>
                          <a:solidFill>
                            <a:srgbClr val="50A14F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'w'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case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>
                          <a:solidFill>
                            <a:srgbClr val="50A14F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'g'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case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>
                          <a:solidFill>
                            <a:srgbClr val="50A14F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'p'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endParaRPr sz="19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case_GETOPT_HELP_CHAR;</a:t>
                      </a:r>
                      <a:endParaRPr sz="19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// ...</a:t>
                      </a:r>
                      <a:endParaRPr sz="1300" b="0" i="0" u="none" strike="noStrike" cap="none">
                        <a:solidFill>
                          <a:srgbClr val="383A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case_GETOPT_VERSION_CHAR(...);</a:t>
                      </a:r>
                      <a:endParaRPr sz="19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}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700" u="none" strike="noStrike" cap="none">
                        <a:highlight>
                          <a:srgbClr val="FAFAFA"/>
                        </a:highlight>
                      </a:endParaRPr>
                    </a:p>
                  </a:txBody>
                  <a:tcPr marL="84667" marR="84667" marT="84667" marB="84667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9" name="Google Shape;499;p79"/>
          <p:cNvGraphicFramePr/>
          <p:nvPr/>
        </p:nvGraphicFramePr>
        <p:xfrm>
          <a:off x="6096000" y="702734"/>
          <a:ext cx="4809867" cy="64685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09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685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300" b="0" i="0" u="none" strike="noStrike" cap="none" dirty="0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__</a:t>
                      </a:r>
                      <a:r>
                        <a:rPr lang="en" sz="1300" b="0" i="0" u="none" strike="noStrike" cap="none" dirty="0" err="1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cdecl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 dirty="0">
                          <a:solidFill>
                            <a:srgbClr val="4078F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300" b="0" i="0" u="none" strike="noStrike" cap="none" dirty="0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a1, </a:t>
                      </a:r>
                      <a:r>
                        <a:rPr lang="en" sz="1300" b="0" i="0" u="none" strike="noStrike" cap="none" dirty="0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*a2, </a:t>
                      </a:r>
                      <a:r>
                        <a:rPr lang="en" sz="1300" b="0" i="0" u="none" strike="noStrike" cap="none" dirty="0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*a3) {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1" u="none" strike="noStrike" cap="none" dirty="0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 dirty="0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== </a:t>
                      </a:r>
                      <a:r>
                        <a:rPr lang="en" sz="1300" b="0" i="0" u="none" strike="noStrike" cap="none" dirty="0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112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{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1" u="none" strike="noStrike" cap="none" dirty="0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}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 dirty="0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 dirty="0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&lt;= </a:t>
                      </a:r>
                      <a:r>
                        <a:rPr lang="en" sz="1300" b="0" i="0" u="none" strike="noStrike" cap="none" dirty="0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112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{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0" u="none" strike="noStrike" cap="none" dirty="0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== </a:t>
                      </a:r>
                      <a:r>
                        <a:rPr lang="en" sz="1300" b="0" i="0" u="none" strike="noStrike" cap="none" dirty="0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-130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  </a:t>
                      </a:r>
                      <a:r>
                        <a:rPr lang="en" sz="1300" b="0" i="1" u="none" strike="noStrike" cap="none" dirty="0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0" u="none" strike="noStrike" cap="none" dirty="0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&lt;= </a:t>
                      </a:r>
                      <a:r>
                        <a:rPr lang="en" sz="1300" b="0" i="0" u="none" strike="noStrike" cap="none" dirty="0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-130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</a:t>
                      </a:r>
                      <a:r>
                        <a:rPr lang="en" sz="1300" b="0" i="0" u="none" strike="noStrike" cap="none" dirty="0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== </a:t>
                      </a:r>
                      <a:r>
                        <a:rPr lang="en" sz="1300" b="0" i="0" u="none" strike="noStrike" cap="none" dirty="0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-131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    {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  </a:t>
                      </a:r>
                      <a:r>
                        <a:rPr lang="en" sz="1300" b="0" i="1" u="none" strike="noStrike" cap="none" dirty="0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    }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LABEL_53: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    </a:t>
                      </a:r>
                      <a:r>
                        <a:rPr lang="en" sz="1300" b="0" i="1" u="none" strike="noStrike" cap="none" dirty="0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9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300" b="0" i="0" u="none" strike="noStrike" cap="none" dirty="0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== </a:t>
                      </a:r>
                      <a:r>
                        <a:rPr lang="en" sz="1300" b="0" i="0" u="none" strike="noStrike" cap="none" dirty="0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99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  {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    </a:t>
                      </a:r>
                      <a:r>
                        <a:rPr lang="en" sz="1300" b="0" i="1" u="none" strike="noStrike" cap="none" dirty="0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  }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  </a:t>
                      </a:r>
                      <a:r>
                        <a:rPr lang="en" sz="1300" b="0" i="0" u="none" strike="noStrike" cap="none" dirty="0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  {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    </a:t>
                      </a:r>
                      <a:r>
                        <a:rPr lang="en" sz="1300" b="0" i="0" u="none" strike="noStrike" cap="none" dirty="0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!= </a:t>
                      </a:r>
                      <a:r>
                        <a:rPr lang="en" sz="1300" b="0" i="0" u="none" strike="noStrike" cap="none" dirty="0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103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  </a:t>
                      </a:r>
                      <a:r>
                        <a:rPr lang="en" sz="1300" b="0" i="0" u="none" strike="noStrike" cap="none" dirty="0" err="1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goto</a:t>
                      </a: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LABEL_53;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    </a:t>
                      </a:r>
                      <a:r>
                        <a:rPr lang="en" sz="1300" b="0" i="1" u="none" strike="noStrike" cap="none" dirty="0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  }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}</a:t>
                      </a:r>
                      <a:b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 dirty="0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 sz="1300" u="none" strike="noStrike" cap="none" dirty="0">
                        <a:highlight>
                          <a:srgbClr val="FAFAFA"/>
                        </a:highlight>
                      </a:endParaRPr>
                    </a:p>
                  </a:txBody>
                  <a:tcPr marL="84667" marR="84667" marT="84667" marB="84667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0" name="Google Shape;500;p79"/>
          <p:cNvSpPr txBox="1"/>
          <p:nvPr/>
        </p:nvSpPr>
        <p:spPr>
          <a:xfrm>
            <a:off x="2248836" y="292365"/>
            <a:ext cx="1639600" cy="410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867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Source Code</a:t>
            </a:r>
            <a:endParaRPr sz="1867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01" name="Google Shape;501;p79"/>
          <p:cNvSpPr txBox="1"/>
          <p:nvPr/>
        </p:nvSpPr>
        <p:spPr>
          <a:xfrm>
            <a:off x="7165955" y="296316"/>
            <a:ext cx="2670000" cy="410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867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Modern Decompilation</a:t>
            </a:r>
            <a:endParaRPr sz="1867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" name="Google Shape;507;p80"/>
          <p:cNvGraphicFramePr/>
          <p:nvPr/>
        </p:nvGraphicFramePr>
        <p:xfrm>
          <a:off x="6096000" y="-104877"/>
          <a:ext cx="4809867" cy="46397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09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397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== </a:t>
                      </a:r>
                      <a:r>
                        <a:rPr lang="en" sz="1300" b="0" i="0" u="none" strike="noStrike" cap="none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116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{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}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&lt;= </a:t>
                      </a:r>
                      <a:r>
                        <a:rPr lang="en" sz="1300" b="0" i="0" u="none" strike="noStrike" cap="none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116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{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!= </a:t>
                      </a:r>
                      <a:r>
                        <a:rPr lang="en" sz="1300" b="0" i="0" u="none" strike="noStrike" cap="none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115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goto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LABEL_53;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}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== </a:t>
                      </a:r>
                      <a:r>
                        <a:rPr lang="en" sz="1300" b="0" i="0" u="none" strike="noStrike" cap="none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117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{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}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{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!= </a:t>
                      </a:r>
                      <a:r>
                        <a:rPr lang="en" sz="1300" b="0" i="0" u="none" strike="noStrike" cap="none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119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   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goto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LABEL_53;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}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300" u="none" strike="noStrike" cap="none">
                        <a:highlight>
                          <a:srgbClr val="FAFAFA"/>
                        </a:highlight>
                      </a:endParaRPr>
                    </a:p>
                  </a:txBody>
                  <a:tcPr marL="84667" marR="84667" marT="84667" marB="84667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FEEF7DC1-CBC4-1699-0062-CE861D24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" name="Google Shape;507;p80">
            <a:extLst>
              <a:ext uri="{FF2B5EF4-FFF2-40B4-BE49-F238E27FC236}">
                <a16:creationId xmlns:a16="http://schemas.microsoft.com/office/drawing/2014/main" id="{9315DD07-3B66-B711-9D8C-1CCE51BD5988}"/>
              </a:ext>
            </a:extLst>
          </p:cNvPr>
          <p:cNvGraphicFramePr/>
          <p:nvPr/>
        </p:nvGraphicFramePr>
        <p:xfrm>
          <a:off x="6096000" y="-104877"/>
          <a:ext cx="4809867" cy="46397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09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397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== </a:t>
                      </a:r>
                      <a:r>
                        <a:rPr lang="en" sz="1300" b="0" i="0" u="none" strike="noStrike" cap="none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116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{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}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&lt;= </a:t>
                      </a:r>
                      <a:r>
                        <a:rPr lang="en" sz="1300" b="0" i="0" u="none" strike="noStrike" cap="none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116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{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!= </a:t>
                      </a:r>
                      <a:r>
                        <a:rPr lang="en" sz="1300" b="0" i="0" u="none" strike="noStrike" cap="none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115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goto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LABEL_53;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}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== </a:t>
                      </a:r>
                      <a:r>
                        <a:rPr lang="en" sz="1300" b="0" i="0" u="none" strike="noStrike" cap="none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117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{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}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{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!= </a:t>
                      </a:r>
                      <a:r>
                        <a:rPr lang="en" sz="1300" b="0" i="0" u="none" strike="noStrike" cap="none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119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   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goto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LABEL_53;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}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300" u="none" strike="noStrike" cap="none">
                        <a:highlight>
                          <a:srgbClr val="FAFAFA"/>
                        </a:highlight>
                      </a:endParaRPr>
                    </a:p>
                  </a:txBody>
                  <a:tcPr marL="84667" marR="84667" marT="84667" marB="84667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AA85A6CB-3073-0A20-A302-A057FCEF62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01" b="2775"/>
          <a:stretch>
            <a:fillRect/>
          </a:stretch>
        </p:blipFill>
        <p:spPr>
          <a:xfrm>
            <a:off x="670996" y="1165610"/>
            <a:ext cx="4204730" cy="2342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937992-4AA4-802D-147E-4A82E56B96F3}"/>
              </a:ext>
            </a:extLst>
          </p:cNvPr>
          <p:cNvSpPr txBox="1"/>
          <p:nvPr/>
        </p:nvSpPr>
        <p:spPr>
          <a:xfrm>
            <a:off x="173354" y="3592286"/>
            <a:ext cx="5200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https://www.youtube.com/watch?v=ncYo6ZqSRLw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673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22BBDAA4-1FE5-FBDC-FC59-EC35BB81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" name="Google Shape;507;p80">
            <a:extLst>
              <a:ext uri="{FF2B5EF4-FFF2-40B4-BE49-F238E27FC236}">
                <a16:creationId xmlns:a16="http://schemas.microsoft.com/office/drawing/2014/main" id="{24B4F828-AD66-3BC8-DA46-A23744BA91D1}"/>
              </a:ext>
            </a:extLst>
          </p:cNvPr>
          <p:cNvGraphicFramePr/>
          <p:nvPr/>
        </p:nvGraphicFramePr>
        <p:xfrm>
          <a:off x="6096000" y="-104877"/>
          <a:ext cx="4809867" cy="46397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09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397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== </a:t>
                      </a:r>
                      <a:r>
                        <a:rPr lang="en" sz="1300" b="0" i="0" u="none" strike="noStrike" cap="none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116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{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}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&lt;= </a:t>
                      </a:r>
                      <a:r>
                        <a:rPr lang="en" sz="1300" b="0" i="0" u="none" strike="noStrike" cap="none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116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{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!= </a:t>
                      </a:r>
                      <a:r>
                        <a:rPr lang="en" sz="1300" b="0" i="0" u="none" strike="noStrike" cap="none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115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goto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LABEL_53;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}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== </a:t>
                      </a:r>
                      <a:r>
                        <a:rPr lang="en" sz="1300" b="0" i="0" u="none" strike="noStrike" cap="none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117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{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}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{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 v8 != </a:t>
                      </a:r>
                      <a:r>
                        <a:rPr lang="en" sz="1300" b="0" i="0" u="none" strike="noStrike" cap="none">
                          <a:solidFill>
                            <a:srgbClr val="986801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119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)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    </a:t>
                      </a:r>
                      <a:r>
                        <a:rPr lang="en" sz="1300" b="0" i="0" u="none" strike="noStrike" cap="none">
                          <a:solidFill>
                            <a:srgbClr val="A626A4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goto</a:t>
                      </a: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LABEL_53;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}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</a:t>
                      </a:r>
                      <a:r>
                        <a:rPr lang="en" sz="1300" b="0" i="1" u="none" strike="noStrike" cap="none">
                          <a:solidFill>
                            <a:srgbClr val="A0A1A7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...</a:t>
                      </a:r>
                      <a:b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300" b="0" i="0" u="none" strike="noStrike" cap="none">
                          <a:solidFill>
                            <a:srgbClr val="383A42"/>
                          </a:solidFill>
                          <a:highlight>
                            <a:srgbClr val="FAFAFA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300" u="none" strike="noStrike" cap="none">
                        <a:highlight>
                          <a:srgbClr val="FAFAFA"/>
                        </a:highlight>
                      </a:endParaRPr>
                    </a:p>
                  </a:txBody>
                  <a:tcPr marL="84667" marR="84667" marT="84667" marB="84667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1214FFF9-CA0D-0ECC-5DD9-83A0BA63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01" b="2775"/>
          <a:stretch>
            <a:fillRect/>
          </a:stretch>
        </p:blipFill>
        <p:spPr>
          <a:xfrm>
            <a:off x="670996" y="1165610"/>
            <a:ext cx="4204730" cy="2342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C89412-F0FD-EBD3-2DD7-846C42DC84B0}"/>
              </a:ext>
            </a:extLst>
          </p:cNvPr>
          <p:cNvSpPr txBox="1"/>
          <p:nvPr/>
        </p:nvSpPr>
        <p:spPr>
          <a:xfrm>
            <a:off x="173354" y="3592286"/>
            <a:ext cx="5200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4"/>
              </a:rPr>
              <a:t>https://www.youtube.com/watch?v=ncYo6ZqSRLw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FE93FC-AEAF-A4D9-112E-E6C41C4867C7}"/>
              </a:ext>
            </a:extLst>
          </p:cNvPr>
          <p:cNvGrpSpPr/>
          <p:nvPr/>
        </p:nvGrpSpPr>
        <p:grpSpPr>
          <a:xfrm>
            <a:off x="2353858" y="4732951"/>
            <a:ext cx="1242723" cy="1709761"/>
            <a:chOff x="5409294" y="1898807"/>
            <a:chExt cx="2073121" cy="3069742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714A7B1-1A6B-83ED-519D-04861BB069ED}"/>
                </a:ext>
              </a:extLst>
            </p:cNvPr>
            <p:cNvSpPr/>
            <p:nvPr/>
          </p:nvSpPr>
          <p:spPr>
            <a:xfrm>
              <a:off x="6793428" y="3701694"/>
              <a:ext cx="688987" cy="401726"/>
            </a:xfrm>
            <a:prstGeom prst="roundRect">
              <a:avLst/>
            </a:prstGeom>
            <a:solidFill>
              <a:srgbClr val="212121">
                <a:alpha val="50000"/>
              </a:srgbClr>
            </a:solidFill>
            <a:ln w="12700">
              <a:solidFill>
                <a:srgbClr val="00B050"/>
              </a:solidFill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F5B48DA-D532-2676-7253-8AB3270F9190}"/>
                </a:ext>
              </a:extLst>
            </p:cNvPr>
            <p:cNvSpPr/>
            <p:nvPr/>
          </p:nvSpPr>
          <p:spPr>
            <a:xfrm>
              <a:off x="6104440" y="4566823"/>
              <a:ext cx="688987" cy="401726"/>
            </a:xfrm>
            <a:prstGeom prst="roundRect">
              <a:avLst/>
            </a:prstGeom>
            <a:solidFill>
              <a:srgbClr val="212121">
                <a:alpha val="50000"/>
              </a:srgbClr>
            </a:solidFill>
            <a:ln w="12700">
              <a:solidFill>
                <a:srgbClr val="00B050"/>
              </a:solidFill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27CC7D0-6491-476C-5A37-8F815A62CDF2}"/>
                </a:ext>
              </a:extLst>
            </p:cNvPr>
            <p:cNvCxnSpPr>
              <a:cxnSpLocks/>
              <a:stCxn id="15" idx="2"/>
              <a:endCxn id="5" idx="0"/>
            </p:cNvCxnSpPr>
            <p:nvPr/>
          </p:nvCxnSpPr>
          <p:spPr>
            <a:xfrm>
              <a:off x="6440493" y="3198392"/>
              <a:ext cx="697428" cy="503302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headEnd w="med" len="sm"/>
              <a:tailEnd type="triangle" w="med" len="sm"/>
            </a:ln>
            <a:effectLst/>
          </p:spPr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721899C-BFF9-0D98-ED6A-8656E68D493D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flipH="1">
              <a:off x="6448934" y="4103420"/>
              <a:ext cx="688987" cy="463404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headEnd w="med" len="sm"/>
              <a:tailEnd type="triangle" w="med" len="sm"/>
            </a:ln>
            <a:effectLst/>
          </p:spPr>
        </p:cxn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5C54464-B4B3-7DFD-A227-7ECAF42DE727}"/>
                </a:ext>
              </a:extLst>
            </p:cNvPr>
            <p:cNvSpPr/>
            <p:nvPr/>
          </p:nvSpPr>
          <p:spPr>
            <a:xfrm>
              <a:off x="5409294" y="3708865"/>
              <a:ext cx="688987" cy="401726"/>
            </a:xfrm>
            <a:prstGeom prst="roundRect">
              <a:avLst/>
            </a:prstGeom>
            <a:solidFill>
              <a:srgbClr val="212121">
                <a:alpha val="50000"/>
              </a:srgbClr>
            </a:solidFill>
            <a:ln w="12700">
              <a:solidFill>
                <a:srgbClr val="00B050"/>
              </a:solidFill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20195A3-EBD0-E938-6CBB-DC3A860E30CA}"/>
                </a:ext>
              </a:extLst>
            </p:cNvPr>
            <p:cNvCxnSpPr>
              <a:cxnSpLocks/>
              <a:stCxn id="15" idx="2"/>
              <a:endCxn id="9" idx="0"/>
            </p:cNvCxnSpPr>
            <p:nvPr/>
          </p:nvCxnSpPr>
          <p:spPr>
            <a:xfrm flipH="1">
              <a:off x="5753788" y="3198392"/>
              <a:ext cx="686705" cy="510473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headEnd w="med" len="sm"/>
              <a:tailEnd type="triangle" w="med" len="sm"/>
            </a:ln>
            <a:effectLst/>
          </p:spPr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E467B89-2ECD-2B86-4B59-D02691883024}"/>
                </a:ext>
              </a:extLst>
            </p:cNvPr>
            <p:cNvCxnSpPr>
              <a:cxnSpLocks/>
              <a:stCxn id="9" idx="2"/>
              <a:endCxn id="6" idx="0"/>
            </p:cNvCxnSpPr>
            <p:nvPr/>
          </p:nvCxnSpPr>
          <p:spPr>
            <a:xfrm>
              <a:off x="5753788" y="4110589"/>
              <a:ext cx="695146" cy="456234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headEnd w="med" len="sm"/>
              <a:tailEnd type="triangle" w="med" len="sm"/>
            </a:ln>
            <a:effectLst/>
          </p:spPr>
        </p:cxn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85672F0-CD52-B8AD-D2E7-DFAF2E5DA657}"/>
                </a:ext>
              </a:extLst>
            </p:cNvPr>
            <p:cNvSpPr/>
            <p:nvPr/>
          </p:nvSpPr>
          <p:spPr>
            <a:xfrm>
              <a:off x="5409294" y="1898807"/>
              <a:ext cx="688987" cy="401726"/>
            </a:xfrm>
            <a:prstGeom prst="roundRect">
              <a:avLst/>
            </a:prstGeom>
            <a:solidFill>
              <a:srgbClr val="212121"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0F6AFB2-5439-C386-8AD2-944D85BBACDD}"/>
                </a:ext>
              </a:extLst>
            </p:cNvPr>
            <p:cNvCxnSpPr>
              <a:stCxn id="12" idx="2"/>
              <a:endCxn id="9" idx="0"/>
            </p:cNvCxnSpPr>
            <p:nvPr/>
          </p:nvCxnSpPr>
          <p:spPr>
            <a:xfrm>
              <a:off x="5753788" y="2300533"/>
              <a:ext cx="0" cy="1408332"/>
            </a:xfrm>
            <a:prstGeom prst="straightConnector1">
              <a:avLst/>
            </a:prstGeom>
            <a:noFill/>
            <a:ln w="9525" cap="flat" cmpd="sng" algn="ctr">
              <a:solidFill>
                <a:srgbClr val="212121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580F7C1-0795-6488-061D-BC6F5DBF1826}"/>
                </a:ext>
              </a:extLst>
            </p:cNvPr>
            <p:cNvCxnSpPr>
              <a:cxnSpLocks/>
              <a:stCxn id="12" idx="2"/>
              <a:endCxn id="15" idx="0"/>
            </p:cNvCxnSpPr>
            <p:nvPr/>
          </p:nvCxnSpPr>
          <p:spPr>
            <a:xfrm>
              <a:off x="5753788" y="2300533"/>
              <a:ext cx="686705" cy="496133"/>
            </a:xfrm>
            <a:prstGeom prst="straightConnector1">
              <a:avLst/>
            </a:prstGeom>
            <a:noFill/>
            <a:ln w="9525" cap="flat" cmpd="sng" algn="ctr">
              <a:solidFill>
                <a:srgbClr val="212121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5A878F2C-5827-1946-9617-7EB362929099}"/>
                </a:ext>
              </a:extLst>
            </p:cNvPr>
            <p:cNvSpPr/>
            <p:nvPr/>
          </p:nvSpPr>
          <p:spPr>
            <a:xfrm>
              <a:off x="6096000" y="2796666"/>
              <a:ext cx="688987" cy="401726"/>
            </a:xfrm>
            <a:prstGeom prst="roundRect">
              <a:avLst/>
            </a:prstGeom>
            <a:solidFill>
              <a:srgbClr val="212121">
                <a:alpha val="50000"/>
              </a:srgbClr>
            </a:solidFill>
            <a:ln w="12700">
              <a:solidFill>
                <a:srgbClr val="00B050"/>
              </a:solidFill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2B291EC-19D3-DD92-1E52-DAF3ADC2EE42}"/>
              </a:ext>
            </a:extLst>
          </p:cNvPr>
          <p:cNvSpPr txBox="1"/>
          <p:nvPr/>
        </p:nvSpPr>
        <p:spPr>
          <a:xfrm>
            <a:off x="2220948" y="4288109"/>
            <a:ext cx="1375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NP-Hard</a:t>
            </a:r>
          </a:p>
        </p:txBody>
      </p:sp>
    </p:spTree>
    <p:extLst>
      <p:ext uri="{BB962C8B-B14F-4D97-AF65-F5344CB8AC3E}">
        <p14:creationId xmlns:p14="http://schemas.microsoft.com/office/powerpoint/2010/main" val="484446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85FBF-3F14-B4ED-E663-9D130B31B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BE527B-27A5-11AB-70B9-3A568B8AC6F0}"/>
              </a:ext>
            </a:extLst>
          </p:cNvPr>
          <p:cNvSpPr txBox="1">
            <a:spLocks/>
          </p:cNvSpPr>
          <p:nvPr/>
        </p:nvSpPr>
        <p:spPr>
          <a:xfrm>
            <a:off x="1524000" y="2237509"/>
            <a:ext cx="9144000" cy="200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800" b="1" dirty="0">
                <a:solidFill>
                  <a:srgbClr val="BA0C2E"/>
                </a:solidFill>
              </a:rPr>
              <a:t>Can we do better with</a:t>
            </a:r>
          </a:p>
          <a:p>
            <a:pPr algn="ctr"/>
            <a:r>
              <a:rPr lang="en-US" sz="6800" b="1" dirty="0">
                <a:solidFill>
                  <a:srgbClr val="BA0C2E"/>
                </a:solidFill>
              </a:rPr>
              <a:t>AI Agents?</a:t>
            </a:r>
            <a:endParaRPr lang="en-US" dirty="0">
              <a:solidFill>
                <a:srgbClr val="BA0C2E"/>
              </a:solidFill>
            </a:endParaRPr>
          </a:p>
        </p:txBody>
      </p:sp>
      <p:pic>
        <p:nvPicPr>
          <p:cNvPr id="2" name="Picture 1" descr="Inspector Gadget | Fictional Characters Wiki | Fandom">
            <a:extLst>
              <a:ext uri="{FF2B5EF4-FFF2-40B4-BE49-F238E27FC236}">
                <a16:creationId xmlns:a16="http://schemas.microsoft.com/office/drawing/2014/main" id="{97FEEFC9-B4A8-AEE6-07EE-EFD13A557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75" y="2881745"/>
            <a:ext cx="2258318" cy="3800764"/>
          </a:xfrm>
          <a:prstGeom prst="rect">
            <a:avLst/>
          </a:prstGeom>
        </p:spPr>
      </p:pic>
      <p:pic>
        <p:nvPicPr>
          <p:cNvPr id="3" name="Picture 2" descr="File:ChatGPT logo.svg - Wikimedia Commons">
            <a:extLst>
              <a:ext uri="{FF2B5EF4-FFF2-40B4-BE49-F238E27FC236}">
                <a16:creationId xmlns:a16="http://schemas.microsoft.com/office/drawing/2014/main" id="{6A361798-799A-B168-C942-F07A1904A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62" y="3429000"/>
            <a:ext cx="443738" cy="44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706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88EC65-F913-AC86-2681-6FBD71DFD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7079B-DBB3-D51C-29A6-4B781DD79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Autonomous Refinement</a:t>
            </a:r>
            <a:endParaRPr lang="en-IL" sz="36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FE60C6-AD46-E0AE-100F-4363383C4767}"/>
              </a:ext>
            </a:extLst>
          </p:cNvPr>
          <p:cNvCxnSpPr>
            <a:cxnSpLocks/>
          </p:cNvCxnSpPr>
          <p:nvPr/>
        </p:nvCxnSpPr>
        <p:spPr>
          <a:xfrm>
            <a:off x="3991232" y="1025612"/>
            <a:ext cx="0" cy="5572896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3A7DB95-87DE-09C5-D392-D1D1EB7A479C}"/>
              </a:ext>
            </a:extLst>
          </p:cNvPr>
          <p:cNvSpPr txBox="1"/>
          <p:nvPr/>
        </p:nvSpPr>
        <p:spPr>
          <a:xfrm>
            <a:off x="834960" y="1013256"/>
            <a:ext cx="2486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 Agent Friendly Base</a:t>
            </a:r>
          </a:p>
        </p:txBody>
      </p:sp>
      <p:pic>
        <p:nvPicPr>
          <p:cNvPr id="21" name="Picture 6">
            <a:extLst>
              <a:ext uri="{FF2B5EF4-FFF2-40B4-BE49-F238E27FC236}">
                <a16:creationId xmlns:a16="http://schemas.microsoft.com/office/drawing/2014/main" id="{A63A0B79-BFF6-1822-7369-807B8548B5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46" y="1885973"/>
            <a:ext cx="1058023" cy="105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Google Shape;60;p13">
            <a:extLst>
              <a:ext uri="{FF2B5EF4-FFF2-40B4-BE49-F238E27FC236}">
                <a16:creationId xmlns:a16="http://schemas.microsoft.com/office/drawing/2014/main" id="{88ECE7FE-A8BF-431E-95F1-B5A316AD39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1054" t="20717" r="20510" b="10704"/>
          <a:stretch/>
        </p:blipFill>
        <p:spPr>
          <a:xfrm>
            <a:off x="2481238" y="1662525"/>
            <a:ext cx="1127869" cy="132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Picture 25" descr="Claude AI Icon SVG Vector &amp; PNG Free Download | UXWing">
            <a:extLst>
              <a:ext uri="{FF2B5EF4-FFF2-40B4-BE49-F238E27FC236}">
                <a16:creationId xmlns:a16="http://schemas.microsoft.com/office/drawing/2014/main" id="{9375E290-C525-86FC-5212-A272EA0B4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289" y="3275667"/>
            <a:ext cx="912139" cy="912139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E5952129-B035-F4EA-7C2C-2217F3AC4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7768" y="4824719"/>
            <a:ext cx="1183179" cy="1183179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47518AF-4EF5-0A58-2A80-367D1A37472B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1350595" y="2798112"/>
            <a:ext cx="708764" cy="477555"/>
          </a:xfrm>
          <a:prstGeom prst="straightConnector1">
            <a:avLst/>
          </a:prstGeom>
          <a:ln w="38100">
            <a:solidFill>
              <a:srgbClr val="BA0C2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67EB3CA-DA8E-845F-5AC0-6E22514DD199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2059359" y="2798112"/>
            <a:ext cx="795052" cy="477555"/>
          </a:xfrm>
          <a:prstGeom prst="straightConnector1">
            <a:avLst/>
          </a:prstGeom>
          <a:ln w="38100">
            <a:solidFill>
              <a:srgbClr val="BA0C2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D0574FE-AC0E-B6D0-ECE6-19ACC9BA2E93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2059359" y="4187806"/>
            <a:ext cx="0" cy="636913"/>
          </a:xfrm>
          <a:prstGeom prst="straightConnector1">
            <a:avLst/>
          </a:prstGeom>
          <a:ln w="38100">
            <a:solidFill>
              <a:srgbClr val="BA0C2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7E7E8DF-FFBC-C5E4-6282-9933175C14C5}"/>
              </a:ext>
            </a:extLst>
          </p:cNvPr>
          <p:cNvSpPr txBox="1"/>
          <p:nvPr/>
        </p:nvSpPr>
        <p:spPr>
          <a:xfrm>
            <a:off x="1089041" y="6102607"/>
            <a:ext cx="19869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350k Lines of Rust</a:t>
            </a:r>
          </a:p>
          <a:p>
            <a:pPr algn="ctr"/>
            <a:r>
              <a:rPr lang="en-US" dirty="0"/>
              <a:t>(</a:t>
            </a:r>
            <a:r>
              <a:rPr lang="en-US" b="1" dirty="0"/>
              <a:t>Kuna v0</a:t>
            </a:r>
            <a:r>
              <a:rPr lang="en-US" dirty="0"/>
              <a:t>)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28FBA48D-F904-0A31-B451-C6C0FE8F73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4379" y="3218591"/>
            <a:ext cx="1183179" cy="118317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C2C645E-5B1D-4D30-4EE1-32E5D1B908CE}"/>
              </a:ext>
            </a:extLst>
          </p:cNvPr>
          <p:cNvSpPr txBox="1"/>
          <p:nvPr/>
        </p:nvSpPr>
        <p:spPr>
          <a:xfrm>
            <a:off x="6959436" y="1013256"/>
            <a:ext cx="2658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Dataset Hill Climbing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54360C6-DBA5-1D27-01B8-47A655C4DB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927" y="2371704"/>
            <a:ext cx="994775" cy="994775"/>
          </a:xfrm>
          <a:prstGeom prst="rect">
            <a:avLst/>
          </a:prstGeom>
        </p:spPr>
      </p:pic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1F392B43-2781-DFD0-445F-1FCA8B798C24}"/>
              </a:ext>
            </a:extLst>
          </p:cNvPr>
          <p:cNvSpPr/>
          <p:nvPr/>
        </p:nvSpPr>
        <p:spPr>
          <a:xfrm>
            <a:off x="4559677" y="2282565"/>
            <a:ext cx="1363428" cy="3058990"/>
          </a:xfrm>
          <a:prstGeom prst="round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656EDB5-DA20-C992-1D66-D34FDC63D1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926" y="3314672"/>
            <a:ext cx="994775" cy="99477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95CE7C5-F50C-9A5A-3ED2-8C6DAA1818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926" y="4330029"/>
            <a:ext cx="994775" cy="994775"/>
          </a:xfrm>
          <a:prstGeom prst="rect">
            <a:avLst/>
          </a:prstGeom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14A32B2-2436-2AA2-8985-899FD1BF4FA0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5740701" y="3810181"/>
            <a:ext cx="710600" cy="1879"/>
          </a:xfrm>
          <a:prstGeom prst="straightConnector1">
            <a:avLst/>
          </a:prstGeom>
          <a:ln w="38100">
            <a:solidFill>
              <a:srgbClr val="BA0C2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EF0ACB3-354F-3DF6-9F24-24E325795CCF}"/>
              </a:ext>
            </a:extLst>
          </p:cNvPr>
          <p:cNvCxnSpPr>
            <a:cxnSpLocks/>
          </p:cNvCxnSpPr>
          <p:nvPr/>
        </p:nvCxnSpPr>
        <p:spPr>
          <a:xfrm flipV="1">
            <a:off x="7737558" y="3810180"/>
            <a:ext cx="710600" cy="1879"/>
          </a:xfrm>
          <a:prstGeom prst="straightConnector1">
            <a:avLst/>
          </a:prstGeom>
          <a:ln w="38100">
            <a:solidFill>
              <a:srgbClr val="BA0C2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8" name="Picture 57" descr="DecBench">
            <a:extLst>
              <a:ext uri="{FF2B5EF4-FFF2-40B4-BE49-F238E27FC236}">
                <a16:creationId xmlns:a16="http://schemas.microsoft.com/office/drawing/2014/main" id="{F51B6B80-0026-E8B3-C035-C9D80ED3492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054" t="7456" r="60212" b="3702"/>
          <a:stretch>
            <a:fillRect/>
          </a:stretch>
        </p:blipFill>
        <p:spPr>
          <a:xfrm>
            <a:off x="8614172" y="3506700"/>
            <a:ext cx="839095" cy="606959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ECAADA97-D2AA-F5B7-8F93-9F5414B507BA}"/>
              </a:ext>
            </a:extLst>
          </p:cNvPr>
          <p:cNvSpPr txBox="1"/>
          <p:nvPr/>
        </p:nvSpPr>
        <p:spPr>
          <a:xfrm>
            <a:off x="4745926" y="1838863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0E8F481-6543-718D-D77F-0074BC48F9A7}"/>
              </a:ext>
            </a:extLst>
          </p:cNvPr>
          <p:cNvSpPr txBox="1"/>
          <p:nvPr/>
        </p:nvSpPr>
        <p:spPr>
          <a:xfrm>
            <a:off x="8567084" y="3055417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Scoring</a:t>
            </a:r>
          </a:p>
        </p:txBody>
      </p:sp>
      <p:pic>
        <p:nvPicPr>
          <p:cNvPr id="61" name="Picture 60" descr="Claude AI Icon SVG Vector &amp; PNG Free Download | UXWing">
            <a:extLst>
              <a:ext uri="{FF2B5EF4-FFF2-40B4-BE49-F238E27FC236}">
                <a16:creationId xmlns:a16="http://schemas.microsoft.com/office/drawing/2014/main" id="{5FECC17F-3F95-5AA0-F1D8-9CFE8E1AE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711" y="3375493"/>
            <a:ext cx="873134" cy="873134"/>
          </a:xfrm>
          <a:prstGeom prst="rect">
            <a:avLst/>
          </a:prstGeom>
        </p:spPr>
      </p:pic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15059D0-AD33-B14C-DE0E-661F80AABB15}"/>
              </a:ext>
            </a:extLst>
          </p:cNvPr>
          <p:cNvCxnSpPr>
            <a:cxnSpLocks/>
          </p:cNvCxnSpPr>
          <p:nvPr/>
        </p:nvCxnSpPr>
        <p:spPr>
          <a:xfrm flipV="1">
            <a:off x="9666367" y="3808300"/>
            <a:ext cx="710600" cy="1879"/>
          </a:xfrm>
          <a:prstGeom prst="straightConnector1">
            <a:avLst/>
          </a:prstGeom>
          <a:ln w="38100">
            <a:solidFill>
              <a:srgbClr val="BA0C2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3C822533-EFAB-40A4-1663-895D5DCF96A8}"/>
              </a:ext>
            </a:extLst>
          </p:cNvPr>
          <p:cNvCxnSpPr>
            <a:stCxn id="61" idx="0"/>
            <a:endCxn id="41" idx="0"/>
          </p:cNvCxnSpPr>
          <p:nvPr/>
        </p:nvCxnSpPr>
        <p:spPr>
          <a:xfrm rot="16200000" flipV="1">
            <a:off x="9007173" y="1357387"/>
            <a:ext cx="156902" cy="3879309"/>
          </a:xfrm>
          <a:prstGeom prst="bentConnector3">
            <a:avLst>
              <a:gd name="adj1" fmla="val 497711"/>
            </a:avLst>
          </a:prstGeom>
          <a:ln w="38100">
            <a:solidFill>
              <a:srgbClr val="BA0C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1600B534-1121-243B-D276-DA34F9BFD556}"/>
              </a:ext>
            </a:extLst>
          </p:cNvPr>
          <p:cNvSpPr txBox="1"/>
          <p:nvPr/>
        </p:nvSpPr>
        <p:spPr>
          <a:xfrm>
            <a:off x="8296529" y="2139638"/>
            <a:ext cx="1578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Targeted Edits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141F09-FFDC-DE95-281F-52B940853FE9}"/>
              </a:ext>
            </a:extLst>
          </p:cNvPr>
          <p:cNvSpPr txBox="1"/>
          <p:nvPr/>
        </p:nvSpPr>
        <p:spPr>
          <a:xfrm>
            <a:off x="9500353" y="6010274"/>
            <a:ext cx="24176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8"/>
              </a:rPr>
              <a:t>https://decbench.com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6C8D4A-1C73-CA8F-AD0C-03CF1DA346B0}"/>
              </a:ext>
            </a:extLst>
          </p:cNvPr>
          <p:cNvSpPr txBox="1"/>
          <p:nvPr/>
        </p:nvSpPr>
        <p:spPr>
          <a:xfrm>
            <a:off x="8015471" y="4243062"/>
            <a:ext cx="216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(distance to source)</a:t>
            </a:r>
          </a:p>
        </p:txBody>
      </p:sp>
    </p:spTree>
    <p:extLst>
      <p:ext uri="{BB962C8B-B14F-4D97-AF65-F5344CB8AC3E}">
        <p14:creationId xmlns:p14="http://schemas.microsoft.com/office/powerpoint/2010/main" val="3172209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0" grpId="0"/>
      <p:bldP spid="45" grpId="0"/>
      <p:bldP spid="48" grpId="0" animBg="1"/>
      <p:bldP spid="59" grpId="0"/>
      <p:bldP spid="60" grpId="0"/>
      <p:bldP spid="73" grpId="0"/>
      <p:bldP spid="75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45739-AE9F-3148-27DF-3B2DA8793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7DC0C07-F9E5-1B18-3CC6-38AB0A055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888484"/>
              </p:ext>
            </p:extLst>
          </p:nvPr>
        </p:nvGraphicFramePr>
        <p:xfrm>
          <a:off x="2492189" y="1871876"/>
          <a:ext cx="2763371" cy="2687320"/>
        </p:xfrm>
        <a:graphic>
          <a:graphicData uri="http://schemas.openxmlformats.org/drawingml/2006/table">
            <a:tbl>
              <a:tblPr/>
              <a:tblGrid>
                <a:gridCol w="2763371">
                  <a:extLst>
                    <a:ext uri="{9D8B030D-6E8A-4147-A177-3AD203B41FA5}">
                      <a16:colId xmlns:a16="http://schemas.microsoft.com/office/drawing/2014/main" val="3644277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(!x)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-1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(!foo(x))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-2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endParaRPr lang="en-US" sz="2400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09652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BACFC92-9D40-9155-07CF-47D588FDD76D}"/>
              </a:ext>
            </a:extLst>
          </p:cNvPr>
          <p:cNvSpPr txBox="1"/>
          <p:nvPr/>
        </p:nvSpPr>
        <p:spPr>
          <a:xfrm>
            <a:off x="3173506" y="987078"/>
            <a:ext cx="11750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Source</a:t>
            </a:r>
          </a:p>
        </p:txBody>
      </p:sp>
      <p:pic>
        <p:nvPicPr>
          <p:cNvPr id="28" name="Picture 27" descr="A black and grey computer screen&#10;&#10;AI-generated content may be incorrect.">
            <a:extLst>
              <a:ext uri="{FF2B5EF4-FFF2-40B4-BE49-F238E27FC236}">
                <a16:creationId xmlns:a16="http://schemas.microsoft.com/office/drawing/2014/main" id="{1328E82E-7388-2DD5-CABB-743423557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8418" y="4729692"/>
            <a:ext cx="1141230" cy="114123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F9DC7DE-6E44-7645-94CB-FE5F1C7194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656" y="2576451"/>
            <a:ext cx="1235287" cy="123528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6DFCDF8-F46C-A1FD-C1C8-83064E077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47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9C7EB5-158B-759A-D0E9-CA2B4DF9C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6CC3202-D71B-BF73-C808-9D71FB448EE6}"/>
              </a:ext>
            </a:extLst>
          </p:cNvPr>
          <p:cNvGraphicFramePr>
            <a:graphicFrameLocks noGrp="1"/>
          </p:cNvGraphicFramePr>
          <p:nvPr/>
        </p:nvGraphicFramePr>
        <p:xfrm>
          <a:off x="7581899" y="1688996"/>
          <a:ext cx="2763371" cy="3053080"/>
        </p:xfrm>
        <a:graphic>
          <a:graphicData uri="http://schemas.openxmlformats.org/drawingml/2006/table">
            <a:tbl>
              <a:tblPr/>
              <a:tblGrid>
                <a:gridCol w="2763371">
                  <a:extLst>
                    <a:ext uri="{9D8B030D-6E8A-4147-A177-3AD203B41FA5}">
                      <a16:colId xmlns:a16="http://schemas.microsoft.com/office/drawing/2014/main" val="3740458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(!x)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v1 =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-1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(!foo(x))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v1 =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-2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v1 =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v1;</a:t>
                      </a:r>
                      <a:endParaRPr lang="en-US" sz="2400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91374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0AFBDCF-8A23-4BEA-FEEC-724041E93EE5}"/>
              </a:ext>
            </a:extLst>
          </p:cNvPr>
          <p:cNvGraphicFramePr>
            <a:graphicFrameLocks noGrp="1"/>
          </p:cNvGraphicFramePr>
          <p:nvPr/>
        </p:nvGraphicFramePr>
        <p:xfrm>
          <a:off x="2492189" y="1871876"/>
          <a:ext cx="2763371" cy="2687320"/>
        </p:xfrm>
        <a:graphic>
          <a:graphicData uri="http://schemas.openxmlformats.org/drawingml/2006/table">
            <a:tbl>
              <a:tblPr/>
              <a:tblGrid>
                <a:gridCol w="2763371">
                  <a:extLst>
                    <a:ext uri="{9D8B030D-6E8A-4147-A177-3AD203B41FA5}">
                      <a16:colId xmlns:a16="http://schemas.microsoft.com/office/drawing/2014/main" val="3644277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(!x)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-1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(!foo(x))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-2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endParaRPr lang="en-US" sz="2400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09652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7943AB5-80CE-D00A-8770-90D552799469}"/>
              </a:ext>
            </a:extLst>
          </p:cNvPr>
          <p:cNvSpPr txBox="1"/>
          <p:nvPr/>
        </p:nvSpPr>
        <p:spPr>
          <a:xfrm>
            <a:off x="3173506" y="987078"/>
            <a:ext cx="11750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Source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F1A0E7-2018-4AF3-CB8A-D5BA86206379}"/>
              </a:ext>
            </a:extLst>
          </p:cNvPr>
          <p:cNvSpPr txBox="1"/>
          <p:nvPr/>
        </p:nvSpPr>
        <p:spPr>
          <a:xfrm>
            <a:off x="8047307" y="1025612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Decompiler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10F3187D-076C-80BF-E46C-C41A9B310B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2968" y="4834845"/>
            <a:ext cx="1141230" cy="1141230"/>
          </a:xfrm>
          <a:prstGeom prst="rect">
            <a:avLst/>
          </a:prstGeom>
        </p:spPr>
      </p:pic>
      <p:pic>
        <p:nvPicPr>
          <p:cNvPr id="28" name="Picture 27" descr="A black and grey computer screen&#10;&#10;AI-generated content may be incorrect.">
            <a:extLst>
              <a:ext uri="{FF2B5EF4-FFF2-40B4-BE49-F238E27FC236}">
                <a16:creationId xmlns:a16="http://schemas.microsoft.com/office/drawing/2014/main" id="{BBDCE949-F2AF-62B2-0E86-3702AEF90B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aintStrok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8418" y="4729692"/>
            <a:ext cx="1141230" cy="11412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4629D3-232A-F032-7145-2C96801A59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656" y="2576451"/>
            <a:ext cx="1235287" cy="123528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6AC0D7D-AC0B-777E-3E18-746A31A86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56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5757D-F474-ADBF-BC91-15E2ECD6F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BA35DA7-2A70-B465-6933-56DD4668F11D}"/>
              </a:ext>
            </a:extLst>
          </p:cNvPr>
          <p:cNvGraphicFramePr>
            <a:graphicFrameLocks noGrp="1"/>
          </p:cNvGraphicFramePr>
          <p:nvPr/>
        </p:nvGraphicFramePr>
        <p:xfrm>
          <a:off x="7581899" y="1688996"/>
          <a:ext cx="2763371" cy="3053080"/>
        </p:xfrm>
        <a:graphic>
          <a:graphicData uri="http://schemas.openxmlformats.org/drawingml/2006/table">
            <a:tbl>
              <a:tblPr/>
              <a:tblGrid>
                <a:gridCol w="2763371">
                  <a:extLst>
                    <a:ext uri="{9D8B030D-6E8A-4147-A177-3AD203B41FA5}">
                      <a16:colId xmlns:a16="http://schemas.microsoft.com/office/drawing/2014/main" val="3740458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(!x)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v1 =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-1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(!foo(x))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v1 =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-2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v1 =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v1;</a:t>
                      </a:r>
                      <a:endParaRPr lang="en-US" sz="2400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91374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FA22294-BC2F-49E1-CF6B-7121009E741E}"/>
              </a:ext>
            </a:extLst>
          </p:cNvPr>
          <p:cNvGraphicFramePr>
            <a:graphicFrameLocks noGrp="1"/>
          </p:cNvGraphicFramePr>
          <p:nvPr/>
        </p:nvGraphicFramePr>
        <p:xfrm>
          <a:off x="2492189" y="1871876"/>
          <a:ext cx="2763371" cy="2687320"/>
        </p:xfrm>
        <a:graphic>
          <a:graphicData uri="http://schemas.openxmlformats.org/drawingml/2006/table">
            <a:tbl>
              <a:tblPr/>
              <a:tblGrid>
                <a:gridCol w="2763371">
                  <a:extLst>
                    <a:ext uri="{9D8B030D-6E8A-4147-A177-3AD203B41FA5}">
                      <a16:colId xmlns:a16="http://schemas.microsoft.com/office/drawing/2014/main" val="3644277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(!x)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-1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(!foo(x))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-2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endParaRPr lang="en-US" sz="2400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09652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EF0A16D2-8BC7-FCE2-BE69-1E528F297362}"/>
              </a:ext>
            </a:extLst>
          </p:cNvPr>
          <p:cNvSpPr txBox="1"/>
          <p:nvPr/>
        </p:nvSpPr>
        <p:spPr>
          <a:xfrm>
            <a:off x="3173506" y="987078"/>
            <a:ext cx="11750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Source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991593-E372-EA1B-3464-466F1061E6EF}"/>
              </a:ext>
            </a:extLst>
          </p:cNvPr>
          <p:cNvSpPr txBox="1"/>
          <p:nvPr/>
        </p:nvSpPr>
        <p:spPr>
          <a:xfrm>
            <a:off x="8047307" y="1025612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Decompiler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4DDCCA39-3F32-187B-D04E-F5B9A92000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2968" y="4834845"/>
            <a:ext cx="1141230" cy="1141230"/>
          </a:xfrm>
          <a:prstGeom prst="rect">
            <a:avLst/>
          </a:prstGeom>
        </p:spPr>
      </p:pic>
      <p:pic>
        <p:nvPicPr>
          <p:cNvPr id="28" name="Picture 27" descr="A black and grey computer screen&#10;&#10;AI-generated content may be incorrect.">
            <a:extLst>
              <a:ext uri="{FF2B5EF4-FFF2-40B4-BE49-F238E27FC236}">
                <a16:creationId xmlns:a16="http://schemas.microsoft.com/office/drawing/2014/main" id="{762C2AD9-FF0F-9F8A-A44A-60CEF17B9C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aintStrok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8418" y="4729692"/>
            <a:ext cx="1141230" cy="1141230"/>
          </a:xfrm>
          <a:prstGeom prst="rect">
            <a:avLst/>
          </a:prstGeom>
        </p:spPr>
      </p:pic>
      <p:pic>
        <p:nvPicPr>
          <p:cNvPr id="29" name="Picture 28" descr="DecBench">
            <a:extLst>
              <a:ext uri="{FF2B5EF4-FFF2-40B4-BE49-F238E27FC236}">
                <a16:creationId xmlns:a16="http://schemas.microsoft.com/office/drawing/2014/main" id="{8D2D8262-7B08-8568-E28A-25D9DA4BDE2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054" t="7456" r="60212" b="3702"/>
          <a:stretch>
            <a:fillRect/>
          </a:stretch>
        </p:blipFill>
        <p:spPr>
          <a:xfrm>
            <a:off x="5780830" y="2576451"/>
            <a:ext cx="1303055" cy="94256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8B1E5EB-1DB8-1AD6-ADA7-16BE4A49E4AB}"/>
              </a:ext>
            </a:extLst>
          </p:cNvPr>
          <p:cNvSpPr txBox="1"/>
          <p:nvPr/>
        </p:nvSpPr>
        <p:spPr>
          <a:xfrm>
            <a:off x="5808087" y="3550128"/>
            <a:ext cx="1275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Edits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A2B6F1-15CB-E702-192C-FF3B3C7CD0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656" y="2576451"/>
            <a:ext cx="1235287" cy="123528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0FE6702-AD7A-14EE-1003-5BF3C8BEE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38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47F206-B6AD-75D9-1580-E8C62C726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76D8A62-99EE-1B0C-DEED-BD113DEBD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505840"/>
              </p:ext>
            </p:extLst>
          </p:nvPr>
        </p:nvGraphicFramePr>
        <p:xfrm>
          <a:off x="7581899" y="1688996"/>
          <a:ext cx="2763371" cy="3053080"/>
        </p:xfrm>
        <a:graphic>
          <a:graphicData uri="http://schemas.openxmlformats.org/drawingml/2006/table">
            <a:tbl>
              <a:tblPr/>
              <a:tblGrid>
                <a:gridCol w="2763371">
                  <a:extLst>
                    <a:ext uri="{9D8B030D-6E8A-4147-A177-3AD203B41FA5}">
                      <a16:colId xmlns:a16="http://schemas.microsoft.com/office/drawing/2014/main" val="3740458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(!x)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v1 = -1;</a:t>
                      </a:r>
                      <a:br>
                        <a:rPr lang="en-US" sz="2400" b="0" i="0" u="none" strike="noStrike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(!foo(x))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v1 = -2;</a:t>
                      </a:r>
                      <a:br>
                        <a:rPr lang="en-US" sz="2400" b="0" i="0" u="none" strike="noStrike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v1 =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v1;</a:t>
                      </a:r>
                      <a:endParaRPr lang="en-US" sz="2400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91374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0956342-4663-C0DA-815A-227DE6BE249B}"/>
              </a:ext>
            </a:extLst>
          </p:cNvPr>
          <p:cNvGraphicFramePr>
            <a:graphicFrameLocks noGrp="1"/>
          </p:cNvGraphicFramePr>
          <p:nvPr/>
        </p:nvGraphicFramePr>
        <p:xfrm>
          <a:off x="2492189" y="1871876"/>
          <a:ext cx="2763371" cy="2687320"/>
        </p:xfrm>
        <a:graphic>
          <a:graphicData uri="http://schemas.openxmlformats.org/drawingml/2006/table">
            <a:tbl>
              <a:tblPr/>
              <a:tblGrid>
                <a:gridCol w="2763371">
                  <a:extLst>
                    <a:ext uri="{9D8B030D-6E8A-4147-A177-3AD203B41FA5}">
                      <a16:colId xmlns:a16="http://schemas.microsoft.com/office/drawing/2014/main" val="3644277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(!x)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-1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(!foo(x))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-2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endParaRPr lang="en-US" sz="2400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09652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0AC4C6F-FD27-8268-66F8-E4DE8546B571}"/>
              </a:ext>
            </a:extLst>
          </p:cNvPr>
          <p:cNvSpPr txBox="1"/>
          <p:nvPr/>
        </p:nvSpPr>
        <p:spPr>
          <a:xfrm>
            <a:off x="3173506" y="987078"/>
            <a:ext cx="11750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Source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AEE4D7-F75D-3A8C-D724-F2642AA91075}"/>
              </a:ext>
            </a:extLst>
          </p:cNvPr>
          <p:cNvSpPr txBox="1"/>
          <p:nvPr/>
        </p:nvSpPr>
        <p:spPr>
          <a:xfrm>
            <a:off x="8047307" y="1025612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Decompiler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E328DFD2-64A4-8FFE-9868-E1FEE797D3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2968" y="4834845"/>
            <a:ext cx="1141230" cy="1141230"/>
          </a:xfrm>
          <a:prstGeom prst="rect">
            <a:avLst/>
          </a:prstGeom>
        </p:spPr>
      </p:pic>
      <p:pic>
        <p:nvPicPr>
          <p:cNvPr id="28" name="Picture 27" descr="A black and grey computer screen&#10;&#10;AI-generated content may be incorrect.">
            <a:extLst>
              <a:ext uri="{FF2B5EF4-FFF2-40B4-BE49-F238E27FC236}">
                <a16:creationId xmlns:a16="http://schemas.microsoft.com/office/drawing/2014/main" id="{4DC33723-3214-10EB-F97A-10B8AF46B8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aintStrok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8418" y="4729692"/>
            <a:ext cx="1141230" cy="1141230"/>
          </a:xfrm>
          <a:prstGeom prst="rect">
            <a:avLst/>
          </a:prstGeom>
        </p:spPr>
      </p:pic>
      <p:pic>
        <p:nvPicPr>
          <p:cNvPr id="29" name="Picture 28" descr="DecBench">
            <a:extLst>
              <a:ext uri="{FF2B5EF4-FFF2-40B4-BE49-F238E27FC236}">
                <a16:creationId xmlns:a16="http://schemas.microsoft.com/office/drawing/2014/main" id="{8540B87C-E140-292F-706D-F2F776D46A0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054" t="7456" r="60212" b="3702"/>
          <a:stretch>
            <a:fillRect/>
          </a:stretch>
        </p:blipFill>
        <p:spPr>
          <a:xfrm>
            <a:off x="5780830" y="2576451"/>
            <a:ext cx="1303055" cy="94256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FFCA988-32CA-0444-3F07-06C113A7DA70}"/>
              </a:ext>
            </a:extLst>
          </p:cNvPr>
          <p:cNvSpPr txBox="1"/>
          <p:nvPr/>
        </p:nvSpPr>
        <p:spPr>
          <a:xfrm>
            <a:off x="5808087" y="3550128"/>
            <a:ext cx="1275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Edits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10DE1A-64E7-65F4-19C4-76F9E03F9E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656" y="2576451"/>
            <a:ext cx="1235287" cy="1235287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E83EF29-AF4A-F91B-3D87-23F172462ADC}"/>
              </a:ext>
            </a:extLst>
          </p:cNvPr>
          <p:cNvCxnSpPr>
            <a:cxnSpLocks/>
          </p:cNvCxnSpPr>
          <p:nvPr/>
        </p:nvCxnSpPr>
        <p:spPr>
          <a:xfrm flipH="1">
            <a:off x="7821637" y="2447494"/>
            <a:ext cx="786646" cy="380112"/>
          </a:xfrm>
          <a:prstGeom prst="straightConnector1">
            <a:avLst/>
          </a:prstGeom>
          <a:ln w="38100">
            <a:solidFill>
              <a:srgbClr val="BA0C2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24A145C-EA1E-9DAF-CD21-1CFE3B134613}"/>
              </a:ext>
            </a:extLst>
          </p:cNvPr>
          <p:cNvCxnSpPr>
            <a:cxnSpLocks/>
          </p:cNvCxnSpPr>
          <p:nvPr/>
        </p:nvCxnSpPr>
        <p:spPr>
          <a:xfrm flipH="1">
            <a:off x="7653984" y="3561218"/>
            <a:ext cx="786646" cy="380112"/>
          </a:xfrm>
          <a:prstGeom prst="straightConnector1">
            <a:avLst/>
          </a:prstGeom>
          <a:ln w="38100">
            <a:solidFill>
              <a:srgbClr val="BA0C2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3346B22D-D72C-9EC0-C97B-FF27179A5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76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3313A-6A9B-6E9A-95BC-345A4D6A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CE3577C-B161-4934-BC41-48A227C7E524}"/>
              </a:ext>
            </a:extLst>
          </p:cNvPr>
          <p:cNvGraphicFramePr>
            <a:graphicFrameLocks noGrp="1"/>
          </p:cNvGraphicFramePr>
          <p:nvPr/>
        </p:nvGraphicFramePr>
        <p:xfrm>
          <a:off x="7581899" y="1688996"/>
          <a:ext cx="2763371" cy="3053080"/>
        </p:xfrm>
        <a:graphic>
          <a:graphicData uri="http://schemas.openxmlformats.org/drawingml/2006/table">
            <a:tbl>
              <a:tblPr/>
              <a:tblGrid>
                <a:gridCol w="2763371">
                  <a:extLst>
                    <a:ext uri="{9D8B030D-6E8A-4147-A177-3AD203B41FA5}">
                      <a16:colId xmlns:a16="http://schemas.microsoft.com/office/drawing/2014/main" val="3740458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(!x)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v1 = -1;</a:t>
                      </a:r>
                      <a:br>
                        <a:rPr lang="en-US" sz="2400" b="0" i="0" u="none" strike="noStrike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(!foo(x))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v1 = -2;</a:t>
                      </a:r>
                      <a:br>
                        <a:rPr lang="en-US" sz="2400" b="0" i="0" u="none" strike="noStrike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v1 =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v1;</a:t>
                      </a:r>
                      <a:endParaRPr lang="en-US" sz="2400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91374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CDB3A0C-601D-7A46-3C1A-8D9CB78F1617}"/>
              </a:ext>
            </a:extLst>
          </p:cNvPr>
          <p:cNvGraphicFramePr>
            <a:graphicFrameLocks noGrp="1"/>
          </p:cNvGraphicFramePr>
          <p:nvPr/>
        </p:nvGraphicFramePr>
        <p:xfrm>
          <a:off x="2492189" y="1871876"/>
          <a:ext cx="2763371" cy="2687320"/>
        </p:xfrm>
        <a:graphic>
          <a:graphicData uri="http://schemas.openxmlformats.org/drawingml/2006/table">
            <a:tbl>
              <a:tblPr/>
              <a:tblGrid>
                <a:gridCol w="2763371">
                  <a:extLst>
                    <a:ext uri="{9D8B030D-6E8A-4147-A177-3AD203B41FA5}">
                      <a16:colId xmlns:a16="http://schemas.microsoft.com/office/drawing/2014/main" val="3644277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(!x)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-1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(!foo(x))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-2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endParaRPr lang="en-US" sz="2400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09652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420DA6B-CBE6-AC55-8C00-85F5D11753EF}"/>
              </a:ext>
            </a:extLst>
          </p:cNvPr>
          <p:cNvSpPr txBox="1"/>
          <p:nvPr/>
        </p:nvSpPr>
        <p:spPr>
          <a:xfrm>
            <a:off x="3173506" y="987078"/>
            <a:ext cx="11750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Source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181E9E-FCD3-37FD-C74A-42D160770BE2}"/>
              </a:ext>
            </a:extLst>
          </p:cNvPr>
          <p:cNvSpPr txBox="1"/>
          <p:nvPr/>
        </p:nvSpPr>
        <p:spPr>
          <a:xfrm>
            <a:off x="8047307" y="1025612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Decompiler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B32BF460-E9C7-1CDB-5AD4-416AD5EB32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2968" y="4834845"/>
            <a:ext cx="1141230" cy="1141230"/>
          </a:xfrm>
          <a:prstGeom prst="rect">
            <a:avLst/>
          </a:prstGeom>
        </p:spPr>
      </p:pic>
      <p:pic>
        <p:nvPicPr>
          <p:cNvPr id="28" name="Picture 27" descr="A black and grey computer screen&#10;&#10;AI-generated content may be incorrect.">
            <a:extLst>
              <a:ext uri="{FF2B5EF4-FFF2-40B4-BE49-F238E27FC236}">
                <a16:creationId xmlns:a16="http://schemas.microsoft.com/office/drawing/2014/main" id="{0B71E413-DDE3-E450-A696-A0786F7AD1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aintStrok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8418" y="4729692"/>
            <a:ext cx="1141230" cy="1141230"/>
          </a:xfrm>
          <a:prstGeom prst="rect">
            <a:avLst/>
          </a:prstGeom>
        </p:spPr>
      </p:pic>
      <p:pic>
        <p:nvPicPr>
          <p:cNvPr id="29" name="Picture 28" descr="DecBench">
            <a:extLst>
              <a:ext uri="{FF2B5EF4-FFF2-40B4-BE49-F238E27FC236}">
                <a16:creationId xmlns:a16="http://schemas.microsoft.com/office/drawing/2014/main" id="{EA50E994-6981-83A2-4AC3-1619450AD82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054" t="7456" r="60212" b="3702"/>
          <a:stretch>
            <a:fillRect/>
          </a:stretch>
        </p:blipFill>
        <p:spPr>
          <a:xfrm>
            <a:off x="5780830" y="2576451"/>
            <a:ext cx="1303055" cy="94256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2C611E8-3C00-8594-6237-66742D1993F4}"/>
              </a:ext>
            </a:extLst>
          </p:cNvPr>
          <p:cNvSpPr txBox="1"/>
          <p:nvPr/>
        </p:nvSpPr>
        <p:spPr>
          <a:xfrm>
            <a:off x="5808087" y="3550128"/>
            <a:ext cx="1275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Edits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56EF33-507E-8E51-52DE-47899958B2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656" y="2576451"/>
            <a:ext cx="1235287" cy="1235287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E903A04-100B-1C54-0118-A3C619D7F80F}"/>
              </a:ext>
            </a:extLst>
          </p:cNvPr>
          <p:cNvCxnSpPr>
            <a:cxnSpLocks/>
          </p:cNvCxnSpPr>
          <p:nvPr/>
        </p:nvCxnSpPr>
        <p:spPr>
          <a:xfrm flipH="1">
            <a:off x="7821637" y="2447494"/>
            <a:ext cx="786646" cy="380112"/>
          </a:xfrm>
          <a:prstGeom prst="straightConnector1">
            <a:avLst/>
          </a:prstGeom>
          <a:ln w="38100">
            <a:solidFill>
              <a:srgbClr val="BA0C2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7466C18-5321-CAFB-FB4B-454A2066F53B}"/>
              </a:ext>
            </a:extLst>
          </p:cNvPr>
          <p:cNvCxnSpPr>
            <a:cxnSpLocks/>
          </p:cNvCxnSpPr>
          <p:nvPr/>
        </p:nvCxnSpPr>
        <p:spPr>
          <a:xfrm flipH="1">
            <a:off x="7653984" y="3561218"/>
            <a:ext cx="786646" cy="380112"/>
          </a:xfrm>
          <a:prstGeom prst="straightConnector1">
            <a:avLst/>
          </a:prstGeom>
          <a:ln w="38100">
            <a:solidFill>
              <a:srgbClr val="BA0C2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Picture 7" descr="Claude AI Icon SVG Vector &amp; PNG Free Download | UXWing">
            <a:extLst>
              <a:ext uri="{FF2B5EF4-FFF2-40B4-BE49-F238E27FC236}">
                <a16:creationId xmlns:a16="http://schemas.microsoft.com/office/drawing/2014/main" id="{2BE1C088-3834-50D6-FEF9-CCA9911DDB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4741" y="5919327"/>
            <a:ext cx="873134" cy="87313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F595B26-5F7F-456F-6E7E-C60A9B670A60}"/>
              </a:ext>
            </a:extLst>
          </p:cNvPr>
          <p:cNvSpPr/>
          <p:nvPr/>
        </p:nvSpPr>
        <p:spPr>
          <a:xfrm>
            <a:off x="2127059" y="938673"/>
            <a:ext cx="8690995" cy="4807450"/>
          </a:xfrm>
          <a:prstGeom prst="round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2DF2BD-B478-74E5-1DA0-E29981AA0100}"/>
              </a:ext>
            </a:extLst>
          </p:cNvPr>
          <p:cNvSpPr txBox="1"/>
          <p:nvPr/>
        </p:nvSpPr>
        <p:spPr>
          <a:xfrm>
            <a:off x="3748388" y="362999"/>
            <a:ext cx="5822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”Get our decompiler to a 0 distance”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6664751-CE28-E259-A885-B839B21BF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617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1BC12-E928-1A73-5CDA-0355B5933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D8CFE51-3F57-4DA1-5C20-AB431F419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191270"/>
              </p:ext>
            </p:extLst>
          </p:nvPr>
        </p:nvGraphicFramePr>
        <p:xfrm>
          <a:off x="7581897" y="1871876"/>
          <a:ext cx="2763371" cy="2687320"/>
        </p:xfrm>
        <a:graphic>
          <a:graphicData uri="http://schemas.openxmlformats.org/drawingml/2006/table">
            <a:tbl>
              <a:tblPr/>
              <a:tblGrid>
                <a:gridCol w="2763371">
                  <a:extLst>
                    <a:ext uri="{9D8B030D-6E8A-4147-A177-3AD203B41FA5}">
                      <a16:colId xmlns:a16="http://schemas.microsoft.com/office/drawing/2014/main" val="3740458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(!x)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return -1;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(!foo(x))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return -2;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return 0;</a:t>
                      </a:r>
                      <a:endParaRPr lang="en-US" sz="240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91374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427876F-C661-4779-E777-652F260453D6}"/>
              </a:ext>
            </a:extLst>
          </p:cNvPr>
          <p:cNvGraphicFramePr>
            <a:graphicFrameLocks noGrp="1"/>
          </p:cNvGraphicFramePr>
          <p:nvPr/>
        </p:nvGraphicFramePr>
        <p:xfrm>
          <a:off x="2492189" y="1871876"/>
          <a:ext cx="2763371" cy="2687320"/>
        </p:xfrm>
        <a:graphic>
          <a:graphicData uri="http://schemas.openxmlformats.org/drawingml/2006/table">
            <a:tbl>
              <a:tblPr/>
              <a:tblGrid>
                <a:gridCol w="2763371">
                  <a:extLst>
                    <a:ext uri="{9D8B030D-6E8A-4147-A177-3AD203B41FA5}">
                      <a16:colId xmlns:a16="http://schemas.microsoft.com/office/drawing/2014/main" val="3644277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(!x)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-1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(!foo(x))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-2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A626A4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endParaRPr lang="en-US" sz="2400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09652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901B789-E347-AB34-A799-BC704169ECEC}"/>
              </a:ext>
            </a:extLst>
          </p:cNvPr>
          <p:cNvSpPr txBox="1"/>
          <p:nvPr/>
        </p:nvSpPr>
        <p:spPr>
          <a:xfrm>
            <a:off x="3173506" y="987078"/>
            <a:ext cx="11750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Source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ED2338-D263-B8B7-E2C8-B5C25FCF4204}"/>
              </a:ext>
            </a:extLst>
          </p:cNvPr>
          <p:cNvSpPr txBox="1"/>
          <p:nvPr/>
        </p:nvSpPr>
        <p:spPr>
          <a:xfrm>
            <a:off x="8047307" y="1025612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Decompiler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AD2C4E7C-587C-EAD3-C634-82ECDB4328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2968" y="4834845"/>
            <a:ext cx="1141230" cy="1141230"/>
          </a:xfrm>
          <a:prstGeom prst="rect">
            <a:avLst/>
          </a:prstGeom>
        </p:spPr>
      </p:pic>
      <p:pic>
        <p:nvPicPr>
          <p:cNvPr id="28" name="Picture 27" descr="A black and grey computer screen&#10;&#10;AI-generated content may be incorrect.">
            <a:extLst>
              <a:ext uri="{FF2B5EF4-FFF2-40B4-BE49-F238E27FC236}">
                <a16:creationId xmlns:a16="http://schemas.microsoft.com/office/drawing/2014/main" id="{7A3EB5C1-795A-0358-99C3-22CD07FA89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aintStrok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8418" y="4729692"/>
            <a:ext cx="1141230" cy="1141230"/>
          </a:xfrm>
          <a:prstGeom prst="rect">
            <a:avLst/>
          </a:prstGeom>
        </p:spPr>
      </p:pic>
      <p:pic>
        <p:nvPicPr>
          <p:cNvPr id="29" name="Picture 28" descr="DecBench">
            <a:extLst>
              <a:ext uri="{FF2B5EF4-FFF2-40B4-BE49-F238E27FC236}">
                <a16:creationId xmlns:a16="http://schemas.microsoft.com/office/drawing/2014/main" id="{067CD39D-DA8B-A563-3413-E58E52E5D9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054" t="7456" r="60212" b="3702"/>
          <a:stretch>
            <a:fillRect/>
          </a:stretch>
        </p:blipFill>
        <p:spPr>
          <a:xfrm>
            <a:off x="5780830" y="2576451"/>
            <a:ext cx="1303055" cy="94256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FA2994C-3BCB-12C9-4982-1BAEA59B6996}"/>
              </a:ext>
            </a:extLst>
          </p:cNvPr>
          <p:cNvSpPr txBox="1"/>
          <p:nvPr/>
        </p:nvSpPr>
        <p:spPr>
          <a:xfrm>
            <a:off x="5808087" y="3550128"/>
            <a:ext cx="1275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Edits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A07B71-7826-EA23-2549-C55995E28E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656" y="2576451"/>
            <a:ext cx="1235287" cy="1235287"/>
          </a:xfrm>
          <a:prstGeom prst="rect">
            <a:avLst/>
          </a:prstGeom>
        </p:spPr>
      </p:pic>
      <p:pic>
        <p:nvPicPr>
          <p:cNvPr id="8" name="Picture 7" descr="Claude AI Icon SVG Vector &amp; PNG Free Download | UXWing">
            <a:extLst>
              <a:ext uri="{FF2B5EF4-FFF2-40B4-BE49-F238E27FC236}">
                <a16:creationId xmlns:a16="http://schemas.microsoft.com/office/drawing/2014/main" id="{5038F6EC-670A-531B-BE74-97597D1D9D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4741" y="5919327"/>
            <a:ext cx="873134" cy="87313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D8B35F4-A06A-7D95-C24E-1AF6CE377F60}"/>
              </a:ext>
            </a:extLst>
          </p:cNvPr>
          <p:cNvSpPr/>
          <p:nvPr/>
        </p:nvSpPr>
        <p:spPr>
          <a:xfrm>
            <a:off x="2127059" y="938673"/>
            <a:ext cx="8690995" cy="4807450"/>
          </a:xfrm>
          <a:prstGeom prst="round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267F0-D5AF-4027-B0B1-2842BFD3D93C}"/>
              </a:ext>
            </a:extLst>
          </p:cNvPr>
          <p:cNvSpPr txBox="1"/>
          <p:nvPr/>
        </p:nvSpPr>
        <p:spPr>
          <a:xfrm>
            <a:off x="3748388" y="362999"/>
            <a:ext cx="5822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”Get our decompiler to a 0 distance”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5938AEA4-430E-900B-B14F-F278EDEB02F2}"/>
              </a:ext>
            </a:extLst>
          </p:cNvPr>
          <p:cNvCxnSpPr>
            <a:stCxn id="8" idx="3"/>
            <a:endCxn id="22" idx="2"/>
          </p:cNvCxnSpPr>
          <p:nvPr/>
        </p:nvCxnSpPr>
        <p:spPr>
          <a:xfrm flipV="1">
            <a:off x="6817875" y="5976075"/>
            <a:ext cx="2145708" cy="379819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4DCAEC4-B0B5-0BF2-2659-D3EDFB32182C}"/>
              </a:ext>
            </a:extLst>
          </p:cNvPr>
          <p:cNvSpPr txBox="1"/>
          <p:nvPr/>
        </p:nvSpPr>
        <p:spPr>
          <a:xfrm>
            <a:off x="9132650" y="6068508"/>
            <a:ext cx="875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 PR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EF05703-8C2B-4C78-4D23-23FFD5D0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FDF3C5-EC4D-B450-F0B3-AF4757725D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402" y="5964682"/>
            <a:ext cx="4881724" cy="78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309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F8AB5-A24F-4D06-4764-78CE81715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D2E0357-820A-555C-7774-01AC64B0826C}"/>
              </a:ext>
            </a:extLst>
          </p:cNvPr>
          <p:cNvSpPr txBox="1">
            <a:spLocks/>
          </p:cNvSpPr>
          <p:nvPr/>
        </p:nvSpPr>
        <p:spPr>
          <a:xfrm>
            <a:off x="1524000" y="2265218"/>
            <a:ext cx="9144000" cy="200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800" b="1" dirty="0">
                <a:solidFill>
                  <a:srgbClr val="BA0C2E"/>
                </a:solidFill>
              </a:rPr>
              <a:t>Results</a:t>
            </a:r>
            <a:endParaRPr lang="en-US" dirty="0">
              <a:solidFill>
                <a:srgbClr val="BA0C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648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93C29-065F-D9BC-41FC-612484F4A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710D0DE-7A43-A933-D5A5-68F947B654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8004675"/>
              </p:ext>
            </p:extLst>
          </p:nvPr>
        </p:nvGraphicFramePr>
        <p:xfrm>
          <a:off x="3119392" y="908284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Google Shape;1224;p123">
            <a:extLst>
              <a:ext uri="{FF2B5EF4-FFF2-40B4-BE49-F238E27FC236}">
                <a16:creationId xmlns:a16="http://schemas.microsoft.com/office/drawing/2014/main" id="{E237A81A-5F8C-F87F-AC9A-116DA7F05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2099" y="1344649"/>
            <a:ext cx="763723" cy="725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27;p123">
            <a:extLst>
              <a:ext uri="{FF2B5EF4-FFF2-40B4-BE49-F238E27FC236}">
                <a16:creationId xmlns:a16="http://schemas.microsoft.com/office/drawing/2014/main" id="{475D071E-C6AD-67E9-0094-FC9B5E33F3F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5802" y="3703555"/>
            <a:ext cx="808713" cy="808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28;p123">
            <a:extLst>
              <a:ext uri="{FF2B5EF4-FFF2-40B4-BE49-F238E27FC236}">
                <a16:creationId xmlns:a16="http://schemas.microsoft.com/office/drawing/2014/main" id="{3957FD29-A8D0-E999-B098-9700F67BA23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4766" t="24665" r="23125" b="12298"/>
          <a:stretch/>
        </p:blipFill>
        <p:spPr>
          <a:xfrm>
            <a:off x="2245968" y="2403554"/>
            <a:ext cx="855986" cy="95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6125B1A4-A014-2852-96EE-E45EE402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6" y="451095"/>
            <a:ext cx="11553567" cy="759340"/>
          </a:xfrm>
        </p:spPr>
        <p:txBody>
          <a:bodyPr anchor="t">
            <a:norm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Exact Source Recovery on 34k C Samples</a:t>
            </a:r>
            <a:endParaRPr lang="en-IL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543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950A8-540B-2E40-A4A8-F32B53BA6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7F571C9-4539-26AB-09E5-79697C21AF32}"/>
              </a:ext>
            </a:extLst>
          </p:cNvPr>
          <p:cNvGraphicFramePr/>
          <p:nvPr/>
        </p:nvGraphicFramePr>
        <p:xfrm>
          <a:off x="3119392" y="908284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Google Shape;1224;p123">
            <a:extLst>
              <a:ext uri="{FF2B5EF4-FFF2-40B4-BE49-F238E27FC236}">
                <a16:creationId xmlns:a16="http://schemas.microsoft.com/office/drawing/2014/main" id="{56817B85-4E17-1ADE-2F51-F806EB0211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2099" y="1344649"/>
            <a:ext cx="763723" cy="725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27;p123">
            <a:extLst>
              <a:ext uri="{FF2B5EF4-FFF2-40B4-BE49-F238E27FC236}">
                <a16:creationId xmlns:a16="http://schemas.microsoft.com/office/drawing/2014/main" id="{451FAB1E-E4EB-B551-B413-6DD4DE496E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5802" y="3703555"/>
            <a:ext cx="808713" cy="808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28;p123">
            <a:extLst>
              <a:ext uri="{FF2B5EF4-FFF2-40B4-BE49-F238E27FC236}">
                <a16:creationId xmlns:a16="http://schemas.microsoft.com/office/drawing/2014/main" id="{0CE0C430-1098-DFD1-6857-8D3B30BEAF5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4766" t="24665" r="23125" b="12298"/>
          <a:stretch/>
        </p:blipFill>
        <p:spPr>
          <a:xfrm>
            <a:off x="2245968" y="2403554"/>
            <a:ext cx="855986" cy="95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037ACC31-3EB2-0CCA-AFEC-0E1AA8086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6" y="451095"/>
            <a:ext cx="11553567" cy="759340"/>
          </a:xfrm>
        </p:spPr>
        <p:txBody>
          <a:bodyPr anchor="t">
            <a:norm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Exact Source Recovery on 34k C Samples</a:t>
            </a:r>
            <a:endParaRPr lang="en-IL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Google Shape;1229;p123">
            <a:extLst>
              <a:ext uri="{FF2B5EF4-FFF2-40B4-BE49-F238E27FC236}">
                <a16:creationId xmlns:a16="http://schemas.microsoft.com/office/drawing/2014/main" id="{CDDAC17D-9144-81A7-AD05-94B5805121DC}"/>
              </a:ext>
            </a:extLst>
          </p:cNvPr>
          <p:cNvSpPr txBox="1"/>
          <p:nvPr/>
        </p:nvSpPr>
        <p:spPr>
          <a:xfrm>
            <a:off x="1114791" y="1568434"/>
            <a:ext cx="110383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 years?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Google Shape;1231;p123">
            <a:extLst>
              <a:ext uri="{FF2B5EF4-FFF2-40B4-BE49-F238E27FC236}">
                <a16:creationId xmlns:a16="http://schemas.microsoft.com/office/drawing/2014/main" id="{0959003D-8899-69E9-D817-7F811F798FB3}"/>
              </a:ext>
            </a:extLst>
          </p:cNvPr>
          <p:cNvSpPr txBox="1"/>
          <p:nvPr/>
        </p:nvSpPr>
        <p:spPr>
          <a:xfrm>
            <a:off x="1114791" y="2798972"/>
            <a:ext cx="90120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10 years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Google Shape;1232;p123">
            <a:extLst>
              <a:ext uri="{FF2B5EF4-FFF2-40B4-BE49-F238E27FC236}">
                <a16:creationId xmlns:a16="http://schemas.microsoft.com/office/drawing/2014/main" id="{46883BA2-51A5-4BC9-26D7-1A2CE12CF252}"/>
              </a:ext>
            </a:extLst>
          </p:cNvPr>
          <p:cNvSpPr txBox="1"/>
          <p:nvPr/>
        </p:nvSpPr>
        <p:spPr>
          <a:xfrm>
            <a:off x="1129177" y="3954023"/>
            <a:ext cx="90120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30 years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3519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5AD71-68BE-3730-B9FA-6F3EB75F0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9AD4803-D686-312A-49D5-B217E13E3712}"/>
              </a:ext>
            </a:extLst>
          </p:cNvPr>
          <p:cNvGraphicFramePr/>
          <p:nvPr/>
        </p:nvGraphicFramePr>
        <p:xfrm>
          <a:off x="3119392" y="908284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Google Shape;1224;p123">
            <a:extLst>
              <a:ext uri="{FF2B5EF4-FFF2-40B4-BE49-F238E27FC236}">
                <a16:creationId xmlns:a16="http://schemas.microsoft.com/office/drawing/2014/main" id="{64204A9D-059D-9107-F028-66DED6B1ED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2099" y="1344649"/>
            <a:ext cx="763723" cy="725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27;p123">
            <a:extLst>
              <a:ext uri="{FF2B5EF4-FFF2-40B4-BE49-F238E27FC236}">
                <a16:creationId xmlns:a16="http://schemas.microsoft.com/office/drawing/2014/main" id="{137436D1-5A80-03D9-D0B9-6404980200B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5802" y="3703555"/>
            <a:ext cx="808713" cy="808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28;p123">
            <a:extLst>
              <a:ext uri="{FF2B5EF4-FFF2-40B4-BE49-F238E27FC236}">
                <a16:creationId xmlns:a16="http://schemas.microsoft.com/office/drawing/2014/main" id="{89C5D41A-97D7-10E7-C56E-19C46D6D4D7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4766" t="24665" r="23125" b="12298"/>
          <a:stretch/>
        </p:blipFill>
        <p:spPr>
          <a:xfrm>
            <a:off x="2245968" y="2403554"/>
            <a:ext cx="855986" cy="95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29;p123">
            <a:extLst>
              <a:ext uri="{FF2B5EF4-FFF2-40B4-BE49-F238E27FC236}">
                <a16:creationId xmlns:a16="http://schemas.microsoft.com/office/drawing/2014/main" id="{7F6D9281-EA19-D03F-F78C-323A1B0F24A5}"/>
              </a:ext>
            </a:extLst>
          </p:cNvPr>
          <p:cNvSpPr txBox="1"/>
          <p:nvPr/>
        </p:nvSpPr>
        <p:spPr>
          <a:xfrm>
            <a:off x="1114791" y="1568434"/>
            <a:ext cx="110383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 years?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Google Shape;1230;p123">
            <a:extLst>
              <a:ext uri="{FF2B5EF4-FFF2-40B4-BE49-F238E27FC236}">
                <a16:creationId xmlns:a16="http://schemas.microsoft.com/office/drawing/2014/main" id="{5520F39C-B6E6-2656-51BF-E45822F9584B}"/>
              </a:ext>
            </a:extLst>
          </p:cNvPr>
          <p:cNvSpPr txBox="1"/>
          <p:nvPr/>
        </p:nvSpPr>
        <p:spPr>
          <a:xfrm>
            <a:off x="1111478" y="5159921"/>
            <a:ext cx="97975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5 months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Google Shape;1231;p123">
            <a:extLst>
              <a:ext uri="{FF2B5EF4-FFF2-40B4-BE49-F238E27FC236}">
                <a16:creationId xmlns:a16="http://schemas.microsoft.com/office/drawing/2014/main" id="{42AD5F59-E7B9-43CF-804B-9C68FD0498FA}"/>
              </a:ext>
            </a:extLst>
          </p:cNvPr>
          <p:cNvSpPr txBox="1"/>
          <p:nvPr/>
        </p:nvSpPr>
        <p:spPr>
          <a:xfrm>
            <a:off x="1114791" y="2798972"/>
            <a:ext cx="90120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10 years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Google Shape;1232;p123">
            <a:extLst>
              <a:ext uri="{FF2B5EF4-FFF2-40B4-BE49-F238E27FC236}">
                <a16:creationId xmlns:a16="http://schemas.microsoft.com/office/drawing/2014/main" id="{969284C3-AFD7-BD53-A5F8-567FBD447262}"/>
              </a:ext>
            </a:extLst>
          </p:cNvPr>
          <p:cNvSpPr txBox="1"/>
          <p:nvPr/>
        </p:nvSpPr>
        <p:spPr>
          <a:xfrm>
            <a:off x="1129177" y="3954023"/>
            <a:ext cx="90120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30 years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4ABB362-AD9B-1E15-6E95-F9C9AC97B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99247" y="4884322"/>
            <a:ext cx="971076" cy="971076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C709E3DF-45FF-B0E3-BE36-9AE4F745B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6" y="451095"/>
            <a:ext cx="11553567" cy="759340"/>
          </a:xfrm>
        </p:spPr>
        <p:txBody>
          <a:bodyPr anchor="t">
            <a:norm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Exact Source Recovery on 34k C Samples</a:t>
            </a:r>
            <a:endParaRPr lang="en-IL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9052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868FE5-8F08-268A-B56F-D0B6BA00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EC3D81C-FD57-5662-C429-B233753EF347}"/>
              </a:ext>
            </a:extLst>
          </p:cNvPr>
          <p:cNvGraphicFramePr/>
          <p:nvPr/>
        </p:nvGraphicFramePr>
        <p:xfrm>
          <a:off x="3119392" y="908284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Google Shape;1224;p123">
            <a:extLst>
              <a:ext uri="{FF2B5EF4-FFF2-40B4-BE49-F238E27FC236}">
                <a16:creationId xmlns:a16="http://schemas.microsoft.com/office/drawing/2014/main" id="{050EBE3E-D0B1-E4E9-327C-13F9847500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2099" y="1344649"/>
            <a:ext cx="763723" cy="725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27;p123">
            <a:extLst>
              <a:ext uri="{FF2B5EF4-FFF2-40B4-BE49-F238E27FC236}">
                <a16:creationId xmlns:a16="http://schemas.microsoft.com/office/drawing/2014/main" id="{5DB53E32-93D5-8090-9070-A28B22E2E0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5802" y="3703555"/>
            <a:ext cx="808713" cy="808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28;p123">
            <a:extLst>
              <a:ext uri="{FF2B5EF4-FFF2-40B4-BE49-F238E27FC236}">
                <a16:creationId xmlns:a16="http://schemas.microsoft.com/office/drawing/2014/main" id="{D3A4B21B-62BB-02A4-EB3D-1C3470670E1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4766" t="24665" r="23125" b="12298"/>
          <a:stretch/>
        </p:blipFill>
        <p:spPr>
          <a:xfrm>
            <a:off x="2245968" y="2403554"/>
            <a:ext cx="855986" cy="95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29;p123">
            <a:extLst>
              <a:ext uri="{FF2B5EF4-FFF2-40B4-BE49-F238E27FC236}">
                <a16:creationId xmlns:a16="http://schemas.microsoft.com/office/drawing/2014/main" id="{7E8E09D0-BE6B-D1C7-A664-2B4D613E876D}"/>
              </a:ext>
            </a:extLst>
          </p:cNvPr>
          <p:cNvSpPr txBox="1"/>
          <p:nvPr/>
        </p:nvSpPr>
        <p:spPr>
          <a:xfrm>
            <a:off x="1114791" y="1568434"/>
            <a:ext cx="110383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 years?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Google Shape;1230;p123">
            <a:extLst>
              <a:ext uri="{FF2B5EF4-FFF2-40B4-BE49-F238E27FC236}">
                <a16:creationId xmlns:a16="http://schemas.microsoft.com/office/drawing/2014/main" id="{FB336F73-49B5-01FC-8DBB-1360EC1DE195}"/>
              </a:ext>
            </a:extLst>
          </p:cNvPr>
          <p:cNvSpPr txBox="1"/>
          <p:nvPr/>
        </p:nvSpPr>
        <p:spPr>
          <a:xfrm>
            <a:off x="1111478" y="5159921"/>
            <a:ext cx="97975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5 months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Google Shape;1231;p123">
            <a:extLst>
              <a:ext uri="{FF2B5EF4-FFF2-40B4-BE49-F238E27FC236}">
                <a16:creationId xmlns:a16="http://schemas.microsoft.com/office/drawing/2014/main" id="{C1D602FF-33CF-F39F-F904-EC90C3C2FBB6}"/>
              </a:ext>
            </a:extLst>
          </p:cNvPr>
          <p:cNvSpPr txBox="1"/>
          <p:nvPr/>
        </p:nvSpPr>
        <p:spPr>
          <a:xfrm>
            <a:off x="1114791" y="2798972"/>
            <a:ext cx="90120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10 years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Google Shape;1232;p123">
            <a:extLst>
              <a:ext uri="{FF2B5EF4-FFF2-40B4-BE49-F238E27FC236}">
                <a16:creationId xmlns:a16="http://schemas.microsoft.com/office/drawing/2014/main" id="{0486E79B-EE18-E153-54A1-F0DA1D676C2C}"/>
              </a:ext>
            </a:extLst>
          </p:cNvPr>
          <p:cNvSpPr txBox="1"/>
          <p:nvPr/>
        </p:nvSpPr>
        <p:spPr>
          <a:xfrm>
            <a:off x="1129177" y="3954023"/>
            <a:ext cx="90120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30 years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8F77E3B-BCB8-6DB3-9C04-5DB65015D8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99247" y="4884322"/>
            <a:ext cx="971076" cy="971076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793D6872-4746-427D-5B48-994ADA6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6" y="451095"/>
            <a:ext cx="11553567" cy="759340"/>
          </a:xfrm>
        </p:spPr>
        <p:txBody>
          <a:bodyPr anchor="t">
            <a:norm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Exact Source Recovery on 34k C Samples</a:t>
            </a:r>
            <a:endParaRPr lang="en-IL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884BB8C1-7043-CF12-235F-7558915885EE}"/>
              </a:ext>
            </a:extLst>
          </p:cNvPr>
          <p:cNvSpPr/>
          <p:nvPr/>
        </p:nvSpPr>
        <p:spPr>
          <a:xfrm rot="16200000">
            <a:off x="9795017" y="4978663"/>
            <a:ext cx="200125" cy="1741980"/>
          </a:xfrm>
          <a:prstGeom prst="leftBrace">
            <a:avLst>
              <a:gd name="adj1" fmla="val 8333"/>
              <a:gd name="adj2" fmla="val 48630"/>
            </a:avLst>
          </a:prstGeom>
          <a:ln w="38100">
            <a:solidFill>
              <a:srgbClr val="BA0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E72281-CFD1-3980-626E-2E6F931B378E}"/>
              </a:ext>
            </a:extLst>
          </p:cNvPr>
          <p:cNvSpPr txBox="1"/>
          <p:nvPr/>
        </p:nvSpPr>
        <p:spPr>
          <a:xfrm>
            <a:off x="9024089" y="6188074"/>
            <a:ext cx="2080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A0C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37% Improvement</a:t>
            </a:r>
          </a:p>
        </p:txBody>
      </p:sp>
    </p:spTree>
    <p:extLst>
      <p:ext uri="{BB962C8B-B14F-4D97-AF65-F5344CB8AC3E}">
        <p14:creationId xmlns:p14="http://schemas.microsoft.com/office/powerpoint/2010/main" val="833875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72F8E1-14BD-A742-2BCC-6FC55E522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68C1797-157A-88BD-6BCF-6A79360DC4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863846"/>
              </p:ext>
            </p:extLst>
          </p:nvPr>
        </p:nvGraphicFramePr>
        <p:xfrm>
          <a:off x="3119392" y="908284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Google Shape;1224;p123">
            <a:extLst>
              <a:ext uri="{FF2B5EF4-FFF2-40B4-BE49-F238E27FC236}">
                <a16:creationId xmlns:a16="http://schemas.microsoft.com/office/drawing/2014/main" id="{E360B526-82C0-90D5-F534-8E0CC3DFB3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2099" y="1344649"/>
            <a:ext cx="763723" cy="725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27;p123">
            <a:extLst>
              <a:ext uri="{FF2B5EF4-FFF2-40B4-BE49-F238E27FC236}">
                <a16:creationId xmlns:a16="http://schemas.microsoft.com/office/drawing/2014/main" id="{9FD7F641-93A8-EF13-8F44-F2F8988582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5802" y="3703555"/>
            <a:ext cx="808713" cy="808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28;p123">
            <a:extLst>
              <a:ext uri="{FF2B5EF4-FFF2-40B4-BE49-F238E27FC236}">
                <a16:creationId xmlns:a16="http://schemas.microsoft.com/office/drawing/2014/main" id="{94CF0D99-3E50-7BE3-075F-C85527CBEA4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4766" t="24665" r="23125" b="12298"/>
          <a:stretch/>
        </p:blipFill>
        <p:spPr>
          <a:xfrm>
            <a:off x="2245968" y="2403554"/>
            <a:ext cx="855986" cy="95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29;p123">
            <a:extLst>
              <a:ext uri="{FF2B5EF4-FFF2-40B4-BE49-F238E27FC236}">
                <a16:creationId xmlns:a16="http://schemas.microsoft.com/office/drawing/2014/main" id="{5F477BC3-B4A3-B7BD-F5BD-FC0743D44047}"/>
              </a:ext>
            </a:extLst>
          </p:cNvPr>
          <p:cNvSpPr txBox="1"/>
          <p:nvPr/>
        </p:nvSpPr>
        <p:spPr>
          <a:xfrm>
            <a:off x="1114791" y="1568434"/>
            <a:ext cx="110383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 years?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Google Shape;1230;p123">
            <a:extLst>
              <a:ext uri="{FF2B5EF4-FFF2-40B4-BE49-F238E27FC236}">
                <a16:creationId xmlns:a16="http://schemas.microsoft.com/office/drawing/2014/main" id="{8C9E5D23-D0AE-B359-3E3E-8D2ABAF132AA}"/>
              </a:ext>
            </a:extLst>
          </p:cNvPr>
          <p:cNvSpPr txBox="1"/>
          <p:nvPr/>
        </p:nvSpPr>
        <p:spPr>
          <a:xfrm>
            <a:off x="1111478" y="5159921"/>
            <a:ext cx="97975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5 months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Google Shape;1231;p123">
            <a:extLst>
              <a:ext uri="{FF2B5EF4-FFF2-40B4-BE49-F238E27FC236}">
                <a16:creationId xmlns:a16="http://schemas.microsoft.com/office/drawing/2014/main" id="{821A33E1-0D1B-3984-313A-2DFA636CF9A4}"/>
              </a:ext>
            </a:extLst>
          </p:cNvPr>
          <p:cNvSpPr txBox="1"/>
          <p:nvPr/>
        </p:nvSpPr>
        <p:spPr>
          <a:xfrm>
            <a:off x="1114791" y="2798972"/>
            <a:ext cx="90120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10 years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Google Shape;1232;p123">
            <a:extLst>
              <a:ext uri="{FF2B5EF4-FFF2-40B4-BE49-F238E27FC236}">
                <a16:creationId xmlns:a16="http://schemas.microsoft.com/office/drawing/2014/main" id="{7F91F4E0-A2DE-EEBE-16B3-3992616E57EC}"/>
              </a:ext>
            </a:extLst>
          </p:cNvPr>
          <p:cNvSpPr txBox="1"/>
          <p:nvPr/>
        </p:nvSpPr>
        <p:spPr>
          <a:xfrm>
            <a:off x="1129177" y="3954023"/>
            <a:ext cx="90120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30 years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FBCBDEA-0EF5-C2D3-3559-C387CFCC93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99247" y="4884322"/>
            <a:ext cx="971076" cy="971076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AB5001C8-D758-C4EB-3478-ABA2C894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6" y="451095"/>
            <a:ext cx="11553567" cy="759340"/>
          </a:xfrm>
        </p:spPr>
        <p:txBody>
          <a:bodyPr anchor="t">
            <a:norm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Exact Source Recovery on 34k C Samples</a:t>
            </a:r>
            <a:endParaRPr lang="en-IL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37FBBEE2-802F-3A5D-BAA0-BE8F3390BDEF}"/>
              </a:ext>
            </a:extLst>
          </p:cNvPr>
          <p:cNvSpPr/>
          <p:nvPr/>
        </p:nvSpPr>
        <p:spPr>
          <a:xfrm rot="16200000">
            <a:off x="9795017" y="4978663"/>
            <a:ext cx="200125" cy="1741980"/>
          </a:xfrm>
          <a:prstGeom prst="leftBrace">
            <a:avLst>
              <a:gd name="adj1" fmla="val 8333"/>
              <a:gd name="adj2" fmla="val 48630"/>
            </a:avLst>
          </a:prstGeom>
          <a:ln w="38100">
            <a:solidFill>
              <a:srgbClr val="BA0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186E75-322C-2D2D-BA55-DB1A1987931B}"/>
              </a:ext>
            </a:extLst>
          </p:cNvPr>
          <p:cNvSpPr txBox="1"/>
          <p:nvPr/>
        </p:nvSpPr>
        <p:spPr>
          <a:xfrm>
            <a:off x="9024089" y="6188074"/>
            <a:ext cx="2080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BA0C2E"/>
                </a:solidFill>
              </a:rPr>
              <a:t>37% Improvement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3CAF669B-7A68-5019-00D7-34F8E555E8CE}"/>
              </a:ext>
            </a:extLst>
          </p:cNvPr>
          <p:cNvSpPr/>
          <p:nvPr/>
        </p:nvSpPr>
        <p:spPr>
          <a:xfrm rot="5400000">
            <a:off x="10552218" y="3665102"/>
            <a:ext cx="137985" cy="289719"/>
          </a:xfrm>
          <a:prstGeom prst="leftBrace">
            <a:avLst>
              <a:gd name="adj1" fmla="val 8333"/>
              <a:gd name="adj2" fmla="val 48630"/>
            </a:avLst>
          </a:prstGeom>
          <a:ln w="38100">
            <a:solidFill>
              <a:srgbClr val="BA0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DB7473-B296-6116-0842-8E81E29DC0A4}"/>
              </a:ext>
            </a:extLst>
          </p:cNvPr>
          <p:cNvSpPr txBox="1"/>
          <p:nvPr/>
        </p:nvSpPr>
        <p:spPr>
          <a:xfrm>
            <a:off x="10766070" y="3657540"/>
            <a:ext cx="110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BA0C2E"/>
                </a:solidFill>
              </a:rPr>
              <a:t>Novelty?</a:t>
            </a:r>
          </a:p>
        </p:txBody>
      </p:sp>
    </p:spTree>
    <p:extLst>
      <p:ext uri="{BB962C8B-B14F-4D97-AF65-F5344CB8AC3E}">
        <p14:creationId xmlns:p14="http://schemas.microsoft.com/office/powerpoint/2010/main" val="4170547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CD745E-7A54-6D2F-D3B1-1A6C9D08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DCBD5-B409-2A71-3B94-00518E5D5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Adoption</a:t>
            </a:r>
            <a:endParaRPr lang="en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F9FA6-020C-EB48-9282-D91A1761E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216" y="1025612"/>
            <a:ext cx="11553568" cy="491756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2k Monthly</a:t>
            </a:r>
            <a:r>
              <a:rPr lang="en-US" dirty="0"/>
              <a:t> Web GUI Users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2.5k Monthly </a:t>
            </a:r>
            <a:r>
              <a:rPr lang="en-US" dirty="0"/>
              <a:t>CLI Installs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Adopted by </a:t>
            </a:r>
            <a:r>
              <a:rPr lang="en-US" b="1" dirty="0"/>
              <a:t>REA </a:t>
            </a:r>
            <a:r>
              <a:rPr lang="en-US" dirty="0"/>
              <a:t>(</a:t>
            </a:r>
            <a:r>
              <a:rPr lang="en-US" dirty="0">
                <a:hlinkClick r:id="rId3"/>
              </a:rPr>
              <a:t>https://github.com/morluto/rea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Adopted by other orgs that can’t be listed (yet!)</a:t>
            </a:r>
          </a:p>
        </p:txBody>
      </p:sp>
    </p:spTree>
    <p:extLst>
      <p:ext uri="{BB962C8B-B14F-4D97-AF65-F5344CB8AC3E}">
        <p14:creationId xmlns:p14="http://schemas.microsoft.com/office/powerpoint/2010/main" val="15464475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0A991-E177-DB1C-1113-66FC1686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4589839-3DA5-3481-D099-64CBC7039EB6}"/>
              </a:ext>
            </a:extLst>
          </p:cNvPr>
          <p:cNvSpPr txBox="1">
            <a:spLocks/>
          </p:cNvSpPr>
          <p:nvPr/>
        </p:nvSpPr>
        <p:spPr>
          <a:xfrm>
            <a:off x="1524000" y="2265218"/>
            <a:ext cx="9144000" cy="200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800" b="1" dirty="0">
                <a:solidFill>
                  <a:srgbClr val="BA0C2E"/>
                </a:solidFill>
              </a:rPr>
              <a:t>DEMO</a:t>
            </a:r>
            <a:endParaRPr lang="en-US" dirty="0">
              <a:solidFill>
                <a:srgbClr val="BA0C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3689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4E61D0-89CD-9AF2-179A-949705818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78F61-7A79-15F7-4F05-03B837EDB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How: Years of Research Work</a:t>
            </a:r>
            <a:endParaRPr lang="en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770;p91">
            <a:extLst>
              <a:ext uri="{FF2B5EF4-FFF2-40B4-BE49-F238E27FC236}">
                <a16:creationId xmlns:a16="http://schemas.microsoft.com/office/drawing/2014/main" id="{A40A0E86-802F-85DD-036C-C2C406904F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60934" y="1741535"/>
            <a:ext cx="4124045" cy="285763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" name="Google Shape;792;p94" title="Screenshot 2026-05-26 at 3.47.33 AM.png">
            <a:extLst>
              <a:ext uri="{FF2B5EF4-FFF2-40B4-BE49-F238E27FC236}">
                <a16:creationId xmlns:a16="http://schemas.microsoft.com/office/drawing/2014/main" id="{71EDE5EF-9F98-336F-E5DC-32412F08B3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047"/>
          <a:stretch/>
        </p:blipFill>
        <p:spPr>
          <a:xfrm>
            <a:off x="6574157" y="1741534"/>
            <a:ext cx="3778259" cy="2857639"/>
          </a:xfrm>
          <a:prstGeom prst="rect">
            <a:avLst/>
          </a:prstGeom>
          <a:noFill/>
          <a:ln w="11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895844-D2C1-4375-A8D7-584D8DDA5455}"/>
              </a:ext>
            </a:extLst>
          </p:cNvPr>
          <p:cNvSpPr txBox="1"/>
          <p:nvPr/>
        </p:nvSpPr>
        <p:spPr>
          <a:xfrm>
            <a:off x="3281125" y="4852457"/>
            <a:ext cx="5629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And… about 15 other papers from more researchers!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CFB747-FC85-21B7-7B4E-FBEE9F9A49BE}"/>
              </a:ext>
            </a:extLst>
          </p:cNvPr>
          <p:cNvSpPr txBox="1"/>
          <p:nvPr/>
        </p:nvSpPr>
        <p:spPr>
          <a:xfrm>
            <a:off x="3371480" y="5221789"/>
            <a:ext cx="5449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https://decompilation.wiki/#decompilation-paper-list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205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573B9-BD31-BC6B-29E6-07349596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8BE68-F099-CC48-B0A5-ABC8D967A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Starting with Known Features</a:t>
            </a:r>
            <a:endParaRPr lang="en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0BD4AA-83F1-0958-64D6-E4576FE00508}"/>
              </a:ext>
            </a:extLst>
          </p:cNvPr>
          <p:cNvGraphicFramePr>
            <a:graphicFrameLocks noGrp="1"/>
          </p:cNvGraphicFramePr>
          <p:nvPr/>
        </p:nvGraphicFramePr>
        <p:xfrm>
          <a:off x="2031996" y="3136293"/>
          <a:ext cx="8548915" cy="118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9783">
                  <a:extLst>
                    <a:ext uri="{9D8B030D-6E8A-4147-A177-3AD203B41FA5}">
                      <a16:colId xmlns:a16="http://schemas.microsoft.com/office/drawing/2014/main" val="3059622455"/>
                    </a:ext>
                  </a:extLst>
                </a:gridCol>
                <a:gridCol w="1709783">
                  <a:extLst>
                    <a:ext uri="{9D8B030D-6E8A-4147-A177-3AD203B41FA5}">
                      <a16:colId xmlns:a16="http://schemas.microsoft.com/office/drawing/2014/main" val="1790516212"/>
                    </a:ext>
                  </a:extLst>
                </a:gridCol>
                <a:gridCol w="1709783">
                  <a:extLst>
                    <a:ext uri="{9D8B030D-6E8A-4147-A177-3AD203B41FA5}">
                      <a16:colId xmlns:a16="http://schemas.microsoft.com/office/drawing/2014/main" val="2917230213"/>
                    </a:ext>
                  </a:extLst>
                </a:gridCol>
                <a:gridCol w="1709783">
                  <a:extLst>
                    <a:ext uri="{9D8B030D-6E8A-4147-A177-3AD203B41FA5}">
                      <a16:colId xmlns:a16="http://schemas.microsoft.com/office/drawing/2014/main" val="2023198216"/>
                    </a:ext>
                  </a:extLst>
                </a:gridCol>
                <a:gridCol w="1709783">
                  <a:extLst>
                    <a:ext uri="{9D8B030D-6E8A-4147-A177-3AD203B41FA5}">
                      <a16:colId xmlns:a16="http://schemas.microsoft.com/office/drawing/2014/main" val="3496489185"/>
                    </a:ext>
                  </a:extLst>
                </a:gridCol>
              </a:tblGrid>
              <a:tr h="5918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Self</a:t>
                      </a:r>
                    </a:p>
                  </a:txBody>
                  <a:tcPr>
                    <a:solidFill>
                      <a:srgbClr val="BA0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Ghidra</a:t>
                      </a:r>
                      <a:endParaRPr lang="en-US" dirty="0"/>
                    </a:p>
                  </a:txBody>
                  <a:tcPr>
                    <a:solidFill>
                      <a:srgbClr val="BA0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angr</a:t>
                      </a:r>
                      <a:endParaRPr lang="en-US" dirty="0"/>
                    </a:p>
                  </a:txBody>
                  <a:tcPr>
                    <a:solidFill>
                      <a:srgbClr val="BA0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Hex-Rays</a:t>
                      </a:r>
                    </a:p>
                  </a:txBody>
                  <a:tcPr>
                    <a:solidFill>
                      <a:srgbClr val="BA0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Binja</a:t>
                      </a:r>
                    </a:p>
                  </a:txBody>
                  <a:tcPr>
                    <a:solidFill>
                      <a:srgbClr val="BA0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671598"/>
                  </a:ext>
                </a:extLst>
              </a:tr>
              <a:tr h="5918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66290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53B1DD2-6D0E-E9B2-A320-144CEA42F5CF}"/>
              </a:ext>
            </a:extLst>
          </p:cNvPr>
          <p:cNvSpPr txBox="1"/>
          <p:nvPr/>
        </p:nvSpPr>
        <p:spPr>
          <a:xfrm>
            <a:off x="3658919" y="2528596"/>
            <a:ext cx="4874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Attributed Source of Kuna’s Developed Features</a:t>
            </a:r>
          </a:p>
        </p:txBody>
      </p:sp>
    </p:spTree>
    <p:extLst>
      <p:ext uri="{BB962C8B-B14F-4D97-AF65-F5344CB8AC3E}">
        <p14:creationId xmlns:p14="http://schemas.microsoft.com/office/powerpoint/2010/main" val="34429576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F45CC6-B8C2-6DBE-5DEA-E702C8A25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C2884-E023-76C3-32E3-C70A80116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Starting with Known Features</a:t>
            </a:r>
            <a:endParaRPr lang="en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8B1BC59-4933-DC76-CF51-4C32D256FAF6}"/>
              </a:ext>
            </a:extLst>
          </p:cNvPr>
          <p:cNvGraphicFramePr>
            <a:graphicFrameLocks noGrp="1"/>
          </p:cNvGraphicFramePr>
          <p:nvPr/>
        </p:nvGraphicFramePr>
        <p:xfrm>
          <a:off x="2031996" y="3136293"/>
          <a:ext cx="8548915" cy="118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9783">
                  <a:extLst>
                    <a:ext uri="{9D8B030D-6E8A-4147-A177-3AD203B41FA5}">
                      <a16:colId xmlns:a16="http://schemas.microsoft.com/office/drawing/2014/main" val="3059622455"/>
                    </a:ext>
                  </a:extLst>
                </a:gridCol>
                <a:gridCol w="1709783">
                  <a:extLst>
                    <a:ext uri="{9D8B030D-6E8A-4147-A177-3AD203B41FA5}">
                      <a16:colId xmlns:a16="http://schemas.microsoft.com/office/drawing/2014/main" val="1790516212"/>
                    </a:ext>
                  </a:extLst>
                </a:gridCol>
                <a:gridCol w="1709783">
                  <a:extLst>
                    <a:ext uri="{9D8B030D-6E8A-4147-A177-3AD203B41FA5}">
                      <a16:colId xmlns:a16="http://schemas.microsoft.com/office/drawing/2014/main" val="2917230213"/>
                    </a:ext>
                  </a:extLst>
                </a:gridCol>
                <a:gridCol w="1709783">
                  <a:extLst>
                    <a:ext uri="{9D8B030D-6E8A-4147-A177-3AD203B41FA5}">
                      <a16:colId xmlns:a16="http://schemas.microsoft.com/office/drawing/2014/main" val="2023198216"/>
                    </a:ext>
                  </a:extLst>
                </a:gridCol>
                <a:gridCol w="1709783">
                  <a:extLst>
                    <a:ext uri="{9D8B030D-6E8A-4147-A177-3AD203B41FA5}">
                      <a16:colId xmlns:a16="http://schemas.microsoft.com/office/drawing/2014/main" val="3496489185"/>
                    </a:ext>
                  </a:extLst>
                </a:gridCol>
              </a:tblGrid>
              <a:tr h="5918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Self</a:t>
                      </a:r>
                    </a:p>
                  </a:txBody>
                  <a:tcPr>
                    <a:solidFill>
                      <a:srgbClr val="BA0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Ghidra</a:t>
                      </a:r>
                      <a:endParaRPr lang="en-US" dirty="0"/>
                    </a:p>
                  </a:txBody>
                  <a:tcPr>
                    <a:solidFill>
                      <a:srgbClr val="BA0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angr</a:t>
                      </a:r>
                      <a:endParaRPr lang="en-US" dirty="0"/>
                    </a:p>
                  </a:txBody>
                  <a:tcPr>
                    <a:solidFill>
                      <a:srgbClr val="BA0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Hex-Rays</a:t>
                      </a:r>
                    </a:p>
                  </a:txBody>
                  <a:tcPr>
                    <a:solidFill>
                      <a:srgbClr val="BA0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Binja</a:t>
                      </a:r>
                    </a:p>
                  </a:txBody>
                  <a:tcPr>
                    <a:solidFill>
                      <a:srgbClr val="BA0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671598"/>
                  </a:ext>
                </a:extLst>
              </a:tr>
              <a:tr h="5918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66290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75BEA61-9C4C-D759-C4D1-7713D5F85E58}"/>
              </a:ext>
            </a:extLst>
          </p:cNvPr>
          <p:cNvSpPr txBox="1"/>
          <p:nvPr/>
        </p:nvSpPr>
        <p:spPr>
          <a:xfrm>
            <a:off x="3658919" y="2528596"/>
            <a:ext cx="4874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Attributed Source of Kuna’s Developed Features</a:t>
            </a:r>
          </a:p>
        </p:txBody>
      </p:sp>
      <p:pic>
        <p:nvPicPr>
          <p:cNvPr id="17" name="Picture 16" descr="Thanos Meme - Thanos - Discover &amp; Share GIFs">
            <a:extLst>
              <a:ext uri="{FF2B5EF4-FFF2-40B4-BE49-F238E27FC236}">
                <a16:creationId xmlns:a16="http://schemas.microsoft.com/office/drawing/2014/main" id="{436F896B-1C77-0EA3-E209-714EA1606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63" y="4483528"/>
            <a:ext cx="2794000" cy="2108200"/>
          </a:xfrm>
          <a:prstGeom prst="rect">
            <a:avLst/>
          </a:prstGeom>
        </p:spPr>
      </p:pic>
      <p:pic>
        <p:nvPicPr>
          <p:cNvPr id="18" name="Google Shape;1227;p123">
            <a:extLst>
              <a:ext uri="{FF2B5EF4-FFF2-40B4-BE49-F238E27FC236}">
                <a16:creationId xmlns:a16="http://schemas.microsoft.com/office/drawing/2014/main" id="{F0BCDA5D-25B5-585E-A1E2-084E78551A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0488" y="6020788"/>
            <a:ext cx="284126" cy="312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228;p123">
            <a:extLst>
              <a:ext uri="{FF2B5EF4-FFF2-40B4-BE49-F238E27FC236}">
                <a16:creationId xmlns:a16="http://schemas.microsoft.com/office/drawing/2014/main" id="{B3F865DC-ACD5-82C4-65A4-B63B966376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4766" t="24665" r="23125" b="12298"/>
          <a:stretch/>
        </p:blipFill>
        <p:spPr>
          <a:xfrm>
            <a:off x="6903900" y="5782865"/>
            <a:ext cx="281428" cy="312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224;p123">
            <a:extLst>
              <a:ext uri="{FF2B5EF4-FFF2-40B4-BE49-F238E27FC236}">
                <a16:creationId xmlns:a16="http://schemas.microsoft.com/office/drawing/2014/main" id="{9C161A95-D3DE-974D-BD7D-DAA4BA5D55D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0053" y="5544941"/>
            <a:ext cx="328687" cy="312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5">
            <a:extLst>
              <a:ext uri="{FF2B5EF4-FFF2-40B4-BE49-F238E27FC236}">
                <a16:creationId xmlns:a16="http://schemas.microsoft.com/office/drawing/2014/main" id="{6462F9BD-782A-4CC5-E594-F659F42DD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549" y="5365677"/>
            <a:ext cx="328687" cy="32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807E6F63-E594-A62F-09CF-8FFA60309B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4396" y="5805853"/>
            <a:ext cx="537639" cy="537639"/>
          </a:xfrm>
          <a:prstGeom prst="rect">
            <a:avLst/>
          </a:prstGeom>
        </p:spPr>
      </p:pic>
      <p:pic>
        <p:nvPicPr>
          <p:cNvPr id="25" name="Picture 24" descr="Claude AI Icon SVG Vector &amp; PNG Free Download | UXWing">
            <a:extLst>
              <a:ext uri="{FF2B5EF4-FFF2-40B4-BE49-F238E27FC236}">
                <a16:creationId xmlns:a16="http://schemas.microsoft.com/office/drawing/2014/main" id="{393B4B93-DF76-DCCE-D15F-0ACB3F1248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9214" y="4737702"/>
            <a:ext cx="807239" cy="80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108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795CA-E15F-B9E8-B45B-C6DE5EEFC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A5E29-172D-7376-0C8E-D2A85779D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Stacking Small (Novel) Wins</a:t>
            </a:r>
            <a:endParaRPr lang="en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AEF598-525A-4E1F-DE78-CE613285DF3A}"/>
              </a:ext>
            </a:extLst>
          </p:cNvPr>
          <p:cNvSpPr txBox="1"/>
          <p:nvPr/>
        </p:nvSpPr>
        <p:spPr>
          <a:xfrm>
            <a:off x="9619861" y="6333180"/>
            <a:ext cx="2252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claude-opus-4-8, 5, 5.5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5E137E-B5C2-DFB2-35F9-A0A778441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10536"/>
            <a:ext cx="7772400" cy="25186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34DB31-5E04-0533-607A-10819DAA4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817240"/>
            <a:ext cx="7772400" cy="12932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917DAE-F6A4-14C6-B80B-1EB81F8AC6A3}"/>
              </a:ext>
            </a:extLst>
          </p:cNvPr>
          <p:cNvSpPr txBox="1"/>
          <p:nvPr/>
        </p:nvSpPr>
        <p:spPr>
          <a:xfrm>
            <a:off x="3729913" y="5698285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https://github.com/Noelo-Lab/kuna/pull/1134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D8B481-97FC-1CDE-D4D1-3B0668623C94}"/>
              </a:ext>
            </a:extLst>
          </p:cNvPr>
          <p:cNvSpPr txBox="1"/>
          <p:nvPr/>
        </p:nvSpPr>
        <p:spPr>
          <a:xfrm>
            <a:off x="3814844" y="6035080"/>
            <a:ext cx="46901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https://github.com/Noelo-Lab/kuna/pull/771</a:t>
            </a:r>
            <a:endParaRPr lang="en-US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40AB09-CB51-21D1-9551-73C0F9F69981}"/>
              </a:ext>
            </a:extLst>
          </p:cNvPr>
          <p:cNvSpPr txBox="1"/>
          <p:nvPr/>
        </p:nvSpPr>
        <p:spPr>
          <a:xfrm>
            <a:off x="3787289" y="1378810"/>
            <a:ext cx="461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Across 15+ PRs, improve type accuracy by x2</a:t>
            </a:r>
          </a:p>
        </p:txBody>
      </p:sp>
    </p:spTree>
    <p:extLst>
      <p:ext uri="{BB962C8B-B14F-4D97-AF65-F5344CB8AC3E}">
        <p14:creationId xmlns:p14="http://schemas.microsoft.com/office/powerpoint/2010/main" val="29306351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895AA6-BC4C-F781-758A-C7224ADEA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32C1A-532D-ACB3-4416-941D15729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Where are the Fundamental Wins?</a:t>
            </a:r>
            <a:endParaRPr lang="en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A2E35-97CA-CE23-574C-3E4912335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216" y="1025612"/>
            <a:ext cx="11553568" cy="4917560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LLMs have avoided serious changes</a:t>
            </a:r>
          </a:p>
          <a:p>
            <a:pPr>
              <a:buFontTx/>
              <a:buChar char="-"/>
            </a:pPr>
            <a:r>
              <a:rPr lang="en-US" i="1" dirty="0"/>
              <a:t>Foundational problems:</a:t>
            </a:r>
          </a:p>
          <a:p>
            <a:pPr lvl="1">
              <a:buFontTx/>
              <a:buChar char="-"/>
            </a:pPr>
            <a:r>
              <a:rPr lang="en-US" dirty="0"/>
              <a:t>Inlining</a:t>
            </a:r>
          </a:p>
          <a:p>
            <a:pPr lvl="1">
              <a:buFontTx/>
              <a:buChar char="-"/>
            </a:pPr>
            <a:r>
              <a:rPr lang="en-US"/>
              <a:t>Deep Multi-Language </a:t>
            </a:r>
            <a:r>
              <a:rPr lang="en-US" dirty="0"/>
              <a:t>Support</a:t>
            </a:r>
          </a:p>
          <a:p>
            <a:pPr lvl="1">
              <a:buFontTx/>
              <a:buChar char="-"/>
            </a:pPr>
            <a:r>
              <a:rPr lang="en-US" dirty="0"/>
              <a:t>Boolean Simplification</a:t>
            </a:r>
          </a:p>
          <a:p>
            <a:pPr lvl="1">
              <a:buFontTx/>
              <a:buChar char="-"/>
            </a:pPr>
            <a:r>
              <a:rPr lang="en-US" dirty="0"/>
              <a:t>…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231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02CD1-5468-97BA-E85A-ABAF90A8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1B24-5210-F2A9-D398-14239A99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Next Phase: Investigating Foundational Changes</a:t>
            </a:r>
            <a:endParaRPr lang="en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00313D2-1201-E128-CBDC-66A2A0562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7225" y="2847889"/>
            <a:ext cx="1699934" cy="1699934"/>
          </a:xfrm>
          <a:prstGeom prst="rect">
            <a:avLst/>
          </a:prstGeom>
        </p:spPr>
      </p:pic>
      <p:pic>
        <p:nvPicPr>
          <p:cNvPr id="16" name="Picture 15" descr="Claude AI Icon SVG Vector &amp; PNG Free Download | UXWing">
            <a:extLst>
              <a:ext uri="{FF2B5EF4-FFF2-40B4-BE49-F238E27FC236}">
                <a16:creationId xmlns:a16="http://schemas.microsoft.com/office/drawing/2014/main" id="{FD13046B-6451-A317-A24F-B4290BC63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43" y="3045599"/>
            <a:ext cx="1353408" cy="1353408"/>
          </a:xfrm>
          <a:prstGeom prst="rect">
            <a:avLst/>
          </a:prstGeom>
        </p:spPr>
      </p:pic>
      <p:sp>
        <p:nvSpPr>
          <p:cNvPr id="21" name="Cloud Callout 20">
            <a:extLst>
              <a:ext uri="{FF2B5EF4-FFF2-40B4-BE49-F238E27FC236}">
                <a16:creationId xmlns:a16="http://schemas.microsoft.com/office/drawing/2014/main" id="{39FFF6B8-F7FA-C1E8-216C-C9251645D704}"/>
              </a:ext>
            </a:extLst>
          </p:cNvPr>
          <p:cNvSpPr/>
          <p:nvPr/>
        </p:nvSpPr>
        <p:spPr>
          <a:xfrm>
            <a:off x="7301547" y="1025612"/>
            <a:ext cx="4116096" cy="2187145"/>
          </a:xfrm>
          <a:prstGeom prst="cloudCallou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Maybe formally proven decompilation can solve this!</a:t>
            </a:r>
          </a:p>
        </p:txBody>
      </p:sp>
    </p:spTree>
    <p:extLst>
      <p:ext uri="{BB962C8B-B14F-4D97-AF65-F5344CB8AC3E}">
        <p14:creationId xmlns:p14="http://schemas.microsoft.com/office/powerpoint/2010/main" val="5812062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83D4B-1214-541C-3517-544E21701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6EFF8-1A37-3CDD-28A8-DF235F31B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99601"/>
            <a:ext cx="9144000" cy="1447842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Mahalo(z)!</a:t>
            </a:r>
            <a:endParaRPr lang="en-I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84FB3-6C02-31A7-CEAA-FD31B61AA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47443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BA0C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Zion </a:t>
            </a:r>
            <a:r>
              <a:rPr lang="en-US" dirty="0" err="1">
                <a:solidFill>
                  <a:srgbClr val="BA0C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Leonahenahe</a:t>
            </a:r>
            <a:r>
              <a:rPr lang="en-US" dirty="0">
                <a:solidFill>
                  <a:srgbClr val="BA0C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Basque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Assistant Professor, University of Georgia</a:t>
            </a:r>
            <a:endParaRPr lang="en-I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67D92A9D-E0DF-3BCD-7458-19EFD2491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106" y="5341140"/>
            <a:ext cx="3887783" cy="10345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247985-2A9F-F800-E759-5A668D499F13}"/>
              </a:ext>
            </a:extLst>
          </p:cNvPr>
          <p:cNvSpPr txBox="1"/>
          <p:nvPr/>
        </p:nvSpPr>
        <p:spPr>
          <a:xfrm>
            <a:off x="4280341" y="3265269"/>
            <a:ext cx="363131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https://decompile.run/</a:t>
            </a:r>
            <a:endParaRPr lang="en-US" dirty="0"/>
          </a:p>
          <a:p>
            <a:pPr algn="ctr"/>
            <a:r>
              <a:rPr lang="en-US" dirty="0">
                <a:hlinkClick r:id="rId4"/>
              </a:rPr>
              <a:t>https://github.com/noelo-lab/kuna</a:t>
            </a:r>
            <a:endParaRPr lang="en-US" dirty="0"/>
          </a:p>
          <a:p>
            <a:pPr algn="ctr"/>
            <a:r>
              <a:rPr lang="en-US" dirty="0">
                <a:hlinkClick r:id="rId5"/>
              </a:rPr>
              <a:t>https://zionbasque.com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124B18-8C1C-CCDE-9CFB-6151F7873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433437">
            <a:off x="8795160" y="4118491"/>
            <a:ext cx="3131513" cy="1254492"/>
          </a:xfrm>
          <a:prstGeom prst="rect">
            <a:avLst/>
          </a:prstGeom>
        </p:spPr>
      </p:pic>
      <p:sp>
        <p:nvSpPr>
          <p:cNvPr id="11" name="Explosion 1 10">
            <a:extLst>
              <a:ext uri="{FF2B5EF4-FFF2-40B4-BE49-F238E27FC236}">
                <a16:creationId xmlns:a16="http://schemas.microsoft.com/office/drawing/2014/main" id="{5FA4A7CF-08E5-C0FB-9E98-2860A83ACF40}"/>
              </a:ext>
            </a:extLst>
          </p:cNvPr>
          <p:cNvSpPr/>
          <p:nvPr/>
        </p:nvSpPr>
        <p:spPr>
          <a:xfrm rot="21031739">
            <a:off x="10007438" y="3278846"/>
            <a:ext cx="1681471" cy="1526285"/>
          </a:xfrm>
          <a:prstGeom prst="irregularSeal1">
            <a:avLst/>
          </a:prstGeom>
          <a:solidFill>
            <a:srgbClr val="BA0C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Check them out!</a:t>
            </a:r>
          </a:p>
        </p:txBody>
      </p:sp>
    </p:spTree>
    <p:extLst>
      <p:ext uri="{BB962C8B-B14F-4D97-AF65-F5344CB8AC3E}">
        <p14:creationId xmlns:p14="http://schemas.microsoft.com/office/powerpoint/2010/main" val="37169445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101DE8-B748-5BC9-43CA-FC36C1EA7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2050-DDF4-BBE6-9022-868DA022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Climbing: Commits</a:t>
            </a:r>
            <a:endParaRPr lang="en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03C90F-B7FB-F871-C9B7-47FC29BC7C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5" t="1666" r="921" b="27704"/>
          <a:stretch>
            <a:fillRect/>
          </a:stretch>
        </p:blipFill>
        <p:spPr>
          <a:xfrm>
            <a:off x="1082351" y="1464906"/>
            <a:ext cx="10260280" cy="411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6854C0-1694-30DD-16B1-6A0B7B886BFC}"/>
              </a:ext>
            </a:extLst>
          </p:cNvPr>
          <p:cNvSpPr txBox="1"/>
          <p:nvPr/>
        </p:nvSpPr>
        <p:spPr>
          <a:xfrm>
            <a:off x="9619861" y="6333180"/>
            <a:ext cx="2252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claude-opus-4-8, 5, 5.5</a:t>
            </a:r>
          </a:p>
        </p:txBody>
      </p:sp>
    </p:spTree>
    <p:extLst>
      <p:ext uri="{BB962C8B-B14F-4D97-AF65-F5344CB8AC3E}">
        <p14:creationId xmlns:p14="http://schemas.microsoft.com/office/powerpoint/2010/main" val="30512922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9A197-9939-DD22-E0CF-6139AFD5A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AE69D-75A2-0A0C-F8E4-49ED472BE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Climbing: All Metrics</a:t>
            </a:r>
            <a:endParaRPr lang="en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2EABB-6E7D-2976-513E-37C25D9B9041}"/>
              </a:ext>
            </a:extLst>
          </p:cNvPr>
          <p:cNvSpPr txBox="1"/>
          <p:nvPr/>
        </p:nvSpPr>
        <p:spPr>
          <a:xfrm>
            <a:off x="9619861" y="6333180"/>
            <a:ext cx="2252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claude-opus-4-8, 5, 5.5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D3504B-DEFB-11EB-012E-E81673266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06" y="1981200"/>
            <a:ext cx="5316894" cy="27302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90A706-D38B-0F8D-E87E-6882F5C59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1981200"/>
            <a:ext cx="5469296" cy="273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3296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2BCC34-CDB1-5989-EBAF-B9B65B9A8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3C431-566C-87D9-730F-153B49B7D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Changing Focus Over Time</a:t>
            </a:r>
            <a:endParaRPr lang="en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C32642-B20D-B073-D7DF-D8EA94128E40}"/>
              </a:ext>
            </a:extLst>
          </p:cNvPr>
          <p:cNvSpPr txBox="1"/>
          <p:nvPr/>
        </p:nvSpPr>
        <p:spPr>
          <a:xfrm>
            <a:off x="9619861" y="6333180"/>
            <a:ext cx="2252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claude-opus-4-8, 5, 5.5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1F3A8F-7CA3-243F-0C30-469927AA5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41" y="1055525"/>
            <a:ext cx="9493898" cy="474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1660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88E4D-24E4-74F3-F39E-990082FE6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5C785-8026-1B0C-02EF-AF6EDAF9D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5" y="266272"/>
            <a:ext cx="11553567" cy="75934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Why Is It Still Unsolved?</a:t>
            </a:r>
            <a:endParaRPr lang="en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D470211-484A-3484-A770-18C0E076460F}"/>
              </a:ext>
            </a:extLst>
          </p:cNvPr>
          <p:cNvGrpSpPr/>
          <p:nvPr/>
        </p:nvGrpSpPr>
        <p:grpSpPr>
          <a:xfrm>
            <a:off x="9190407" y="2952048"/>
            <a:ext cx="1242723" cy="1709761"/>
            <a:chOff x="5409294" y="1898807"/>
            <a:chExt cx="2073121" cy="3069742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BDB5BF1E-78EA-C6CC-19B4-F47737AA2C09}"/>
                </a:ext>
              </a:extLst>
            </p:cNvPr>
            <p:cNvSpPr/>
            <p:nvPr/>
          </p:nvSpPr>
          <p:spPr>
            <a:xfrm>
              <a:off x="6793428" y="3701694"/>
              <a:ext cx="688987" cy="401726"/>
            </a:xfrm>
            <a:prstGeom prst="roundRect">
              <a:avLst/>
            </a:prstGeom>
            <a:solidFill>
              <a:srgbClr val="212121">
                <a:alpha val="50000"/>
              </a:srgbClr>
            </a:solidFill>
            <a:ln w="12700">
              <a:solidFill>
                <a:srgbClr val="00B050"/>
              </a:solidFill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73E89CFA-EE86-B750-3991-7C008A151940}"/>
                </a:ext>
              </a:extLst>
            </p:cNvPr>
            <p:cNvSpPr/>
            <p:nvPr/>
          </p:nvSpPr>
          <p:spPr>
            <a:xfrm>
              <a:off x="6104440" y="4566823"/>
              <a:ext cx="688987" cy="401726"/>
            </a:xfrm>
            <a:prstGeom prst="roundRect">
              <a:avLst/>
            </a:prstGeom>
            <a:solidFill>
              <a:srgbClr val="212121">
                <a:alpha val="50000"/>
              </a:srgbClr>
            </a:solidFill>
            <a:ln w="12700">
              <a:solidFill>
                <a:srgbClr val="00B050"/>
              </a:solidFill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C8A3B70-3CCF-45BC-A7F7-1E74A9EEA3DE}"/>
                </a:ext>
              </a:extLst>
            </p:cNvPr>
            <p:cNvCxnSpPr>
              <a:cxnSpLocks/>
              <a:stCxn id="32" idx="2"/>
              <a:endCxn id="22" idx="0"/>
            </p:cNvCxnSpPr>
            <p:nvPr/>
          </p:nvCxnSpPr>
          <p:spPr>
            <a:xfrm>
              <a:off x="6440493" y="3198392"/>
              <a:ext cx="697428" cy="503302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headEnd w="med" len="sm"/>
              <a:tailEnd type="triangle" w="med" len="sm"/>
            </a:ln>
            <a:effectLst/>
          </p:spPr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4FC5175-6CD9-C175-0A74-9D750C11D777}"/>
                </a:ext>
              </a:extLst>
            </p:cNvPr>
            <p:cNvCxnSpPr>
              <a:cxnSpLocks/>
              <a:stCxn id="22" idx="2"/>
              <a:endCxn id="23" idx="0"/>
            </p:cNvCxnSpPr>
            <p:nvPr/>
          </p:nvCxnSpPr>
          <p:spPr>
            <a:xfrm flipH="1">
              <a:off x="6448934" y="4103420"/>
              <a:ext cx="688987" cy="463404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headEnd w="med" len="sm"/>
              <a:tailEnd type="triangle" w="med" len="sm"/>
            </a:ln>
            <a:effectLst/>
          </p:spPr>
        </p:cxn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32F46482-1B4B-033B-E81B-AF5BC2A6ABF2}"/>
                </a:ext>
              </a:extLst>
            </p:cNvPr>
            <p:cNvSpPr/>
            <p:nvPr/>
          </p:nvSpPr>
          <p:spPr>
            <a:xfrm>
              <a:off x="5409294" y="3708865"/>
              <a:ext cx="688987" cy="401726"/>
            </a:xfrm>
            <a:prstGeom prst="roundRect">
              <a:avLst/>
            </a:prstGeom>
            <a:solidFill>
              <a:srgbClr val="212121">
                <a:alpha val="50000"/>
              </a:srgbClr>
            </a:solidFill>
            <a:ln w="12700">
              <a:solidFill>
                <a:srgbClr val="00B050"/>
              </a:solidFill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61948C8-7595-97C9-4155-801010E7ECE8}"/>
                </a:ext>
              </a:extLst>
            </p:cNvPr>
            <p:cNvCxnSpPr>
              <a:cxnSpLocks/>
              <a:stCxn id="32" idx="2"/>
              <a:endCxn id="26" idx="0"/>
            </p:cNvCxnSpPr>
            <p:nvPr/>
          </p:nvCxnSpPr>
          <p:spPr>
            <a:xfrm flipH="1">
              <a:off x="5753788" y="3198392"/>
              <a:ext cx="686705" cy="510473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headEnd w="med" len="sm"/>
              <a:tailEnd type="triangle" w="med" len="sm"/>
            </a:ln>
            <a:effectLst/>
          </p:spPr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0BC90C6-194D-0956-AED8-F89F5F4D91F5}"/>
                </a:ext>
              </a:extLst>
            </p:cNvPr>
            <p:cNvCxnSpPr>
              <a:cxnSpLocks/>
              <a:stCxn id="26" idx="2"/>
              <a:endCxn id="23" idx="0"/>
            </p:cNvCxnSpPr>
            <p:nvPr/>
          </p:nvCxnSpPr>
          <p:spPr>
            <a:xfrm>
              <a:off x="5753788" y="4110589"/>
              <a:ext cx="695146" cy="456234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headEnd w="med" len="sm"/>
              <a:tailEnd type="triangle" w="med" len="sm"/>
            </a:ln>
            <a:effectLst/>
          </p:spPr>
        </p:cxn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364DAA95-7281-B8B8-BE3F-55C6BEEAC200}"/>
                </a:ext>
              </a:extLst>
            </p:cNvPr>
            <p:cNvSpPr/>
            <p:nvPr/>
          </p:nvSpPr>
          <p:spPr>
            <a:xfrm>
              <a:off x="5409294" y="1898807"/>
              <a:ext cx="688987" cy="401726"/>
            </a:xfrm>
            <a:prstGeom prst="roundRect">
              <a:avLst/>
            </a:prstGeom>
            <a:solidFill>
              <a:srgbClr val="212121"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D820562-CCBC-2C5D-9551-006EFBFB5DC8}"/>
                </a:ext>
              </a:extLst>
            </p:cNvPr>
            <p:cNvCxnSpPr>
              <a:stCxn id="29" idx="2"/>
              <a:endCxn id="26" idx="0"/>
            </p:cNvCxnSpPr>
            <p:nvPr/>
          </p:nvCxnSpPr>
          <p:spPr>
            <a:xfrm>
              <a:off x="5753788" y="2300533"/>
              <a:ext cx="0" cy="1408332"/>
            </a:xfrm>
            <a:prstGeom prst="straightConnector1">
              <a:avLst/>
            </a:prstGeom>
            <a:noFill/>
            <a:ln w="9525" cap="flat" cmpd="sng" algn="ctr">
              <a:solidFill>
                <a:srgbClr val="212121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C4CD104-D006-8E54-321E-BC30710D87A0}"/>
                </a:ext>
              </a:extLst>
            </p:cNvPr>
            <p:cNvCxnSpPr>
              <a:cxnSpLocks/>
              <a:stCxn id="29" idx="2"/>
              <a:endCxn id="32" idx="0"/>
            </p:cNvCxnSpPr>
            <p:nvPr/>
          </p:nvCxnSpPr>
          <p:spPr>
            <a:xfrm>
              <a:off x="5753788" y="2300533"/>
              <a:ext cx="686705" cy="496133"/>
            </a:xfrm>
            <a:prstGeom prst="straightConnector1">
              <a:avLst/>
            </a:prstGeom>
            <a:noFill/>
            <a:ln w="9525" cap="flat" cmpd="sng" algn="ctr">
              <a:solidFill>
                <a:srgbClr val="212121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929756A-CA11-D160-D683-5AFCFF08ABD0}"/>
                </a:ext>
              </a:extLst>
            </p:cNvPr>
            <p:cNvSpPr/>
            <p:nvPr/>
          </p:nvSpPr>
          <p:spPr>
            <a:xfrm>
              <a:off x="6096000" y="2796666"/>
              <a:ext cx="688987" cy="401726"/>
            </a:xfrm>
            <a:prstGeom prst="roundRect">
              <a:avLst/>
            </a:prstGeom>
            <a:solidFill>
              <a:srgbClr val="212121">
                <a:alpha val="50000"/>
              </a:srgbClr>
            </a:solidFill>
            <a:ln w="12700">
              <a:solidFill>
                <a:srgbClr val="00B050"/>
              </a:solidFill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398C8BE-501F-D289-ECA2-784F4034592C}"/>
              </a:ext>
            </a:extLst>
          </p:cNvPr>
          <p:cNvSpPr txBox="1"/>
          <p:nvPr/>
        </p:nvSpPr>
        <p:spPr>
          <a:xfrm>
            <a:off x="8427214" y="2292288"/>
            <a:ext cx="276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Scientifically Hard</a:t>
            </a:r>
          </a:p>
        </p:txBody>
      </p:sp>
      <p:pic>
        <p:nvPicPr>
          <p:cNvPr id="35" name="Picture 6">
            <a:extLst>
              <a:ext uri="{FF2B5EF4-FFF2-40B4-BE49-F238E27FC236}">
                <a16:creationId xmlns:a16="http://schemas.microsoft.com/office/drawing/2014/main" id="{3A685DC9-39D7-7BFC-BB80-78685D641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4845" y="3077650"/>
            <a:ext cx="1102306" cy="1102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89E4A52-BB5D-7BD3-20FA-3590932AA039}"/>
              </a:ext>
            </a:extLst>
          </p:cNvPr>
          <p:cNvSpPr txBox="1"/>
          <p:nvPr/>
        </p:nvSpPr>
        <p:spPr>
          <a:xfrm>
            <a:off x="4713052" y="2298237"/>
            <a:ext cx="2982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Engineering Hard</a:t>
            </a:r>
          </a:p>
        </p:txBody>
      </p:sp>
      <p:pic>
        <p:nvPicPr>
          <p:cNvPr id="37" name="Google Shape;219;p53">
            <a:extLst>
              <a:ext uri="{FF2B5EF4-FFF2-40B4-BE49-F238E27FC236}">
                <a16:creationId xmlns:a16="http://schemas.microsoft.com/office/drawing/2014/main" id="{B4AF9B2D-69CC-60E1-476A-937E74F866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2828" y="3056930"/>
            <a:ext cx="2371115" cy="1580756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16A1DE3-BF01-1519-6FEE-6B508AE935BD}"/>
              </a:ext>
            </a:extLst>
          </p:cNvPr>
          <p:cNvSpPr txBox="1"/>
          <p:nvPr/>
        </p:nvSpPr>
        <p:spPr>
          <a:xfrm>
            <a:off x="1002107" y="2297027"/>
            <a:ext cx="27849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Low Developers</a:t>
            </a:r>
          </a:p>
        </p:txBody>
      </p:sp>
    </p:spTree>
    <p:extLst>
      <p:ext uri="{BB962C8B-B14F-4D97-AF65-F5344CB8AC3E}">
        <p14:creationId xmlns:p14="http://schemas.microsoft.com/office/powerpoint/2010/main" val="227544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  <p:bldP spid="3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>
          <a:extLst>
            <a:ext uri="{FF2B5EF4-FFF2-40B4-BE49-F238E27FC236}">
              <a16:creationId xmlns:a16="http://schemas.microsoft.com/office/drawing/2014/main" id="{21CEE387-F274-7095-C483-35D4D05E2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auss distribution. Standard normal distribution. Gaussian bell graph curve.  Business and marketing concept. Math probability theory. Editable stroke.  Vector illustration isolated on white background 7695523 Vector Art at  Vecteezy">
            <a:extLst>
              <a:ext uri="{FF2B5EF4-FFF2-40B4-BE49-F238E27FC236}">
                <a16:creationId xmlns:a16="http://schemas.microsoft.com/office/drawing/2014/main" id="{AB3C2F30-18AC-8275-3408-FCA3917C10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232" t="16575" r="9631" b="13820"/>
          <a:stretch>
            <a:fillRect/>
          </a:stretch>
        </p:blipFill>
        <p:spPr bwMode="auto">
          <a:xfrm>
            <a:off x="2014925" y="1826219"/>
            <a:ext cx="8162150" cy="368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black and grey computer screen&#10;&#10;AI-generated content may be incorrect.">
            <a:extLst>
              <a:ext uri="{FF2B5EF4-FFF2-40B4-BE49-F238E27FC236}">
                <a16:creationId xmlns:a16="http://schemas.microsoft.com/office/drawing/2014/main" id="{83F3D4D0-EDA9-C9DC-70AC-C9B7EA5C0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aintStrok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12228" y="3153972"/>
            <a:ext cx="1612368" cy="1612368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DFB579B-5A37-AACD-9DB6-A83086D64BB0}"/>
              </a:ext>
            </a:extLst>
          </p:cNvPr>
          <p:cNvSpPr/>
          <p:nvPr/>
        </p:nvSpPr>
        <p:spPr>
          <a:xfrm>
            <a:off x="5163671" y="2407021"/>
            <a:ext cx="1909482" cy="3106271"/>
          </a:xfrm>
          <a:prstGeom prst="round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5135304-F34F-DC37-7F9E-614386F249F2}"/>
              </a:ext>
            </a:extLst>
          </p:cNvPr>
          <p:cNvCxnSpPr>
            <a:cxnSpLocks/>
          </p:cNvCxnSpPr>
          <p:nvPr/>
        </p:nvCxnSpPr>
        <p:spPr>
          <a:xfrm flipH="1">
            <a:off x="7516906" y="1936376"/>
            <a:ext cx="1344706" cy="7126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D04020-AA05-6A66-6A40-318E3C41FDE5}"/>
              </a:ext>
            </a:extLst>
          </p:cNvPr>
          <p:cNvSpPr txBox="1"/>
          <p:nvPr/>
        </p:nvSpPr>
        <p:spPr>
          <a:xfrm>
            <a:off x="7839635" y="929209"/>
            <a:ext cx="37079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LLMs are trained 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(Open Source Software) </a:t>
            </a:r>
          </a:p>
        </p:txBody>
      </p:sp>
    </p:spTree>
    <p:extLst>
      <p:ext uri="{BB962C8B-B14F-4D97-AF65-F5344CB8AC3E}">
        <p14:creationId xmlns:p14="http://schemas.microsoft.com/office/powerpoint/2010/main" val="1153901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>
          <a:extLst>
            <a:ext uri="{FF2B5EF4-FFF2-40B4-BE49-F238E27FC236}">
              <a16:creationId xmlns:a16="http://schemas.microsoft.com/office/drawing/2014/main" id="{B707FF18-359B-B839-C57D-F8781E24D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auss distribution. Standard normal distribution. Gaussian bell graph curve.  Business and marketing concept. Math probability theory. Editable stroke.  Vector illustration isolated on white background 7695523 Vector Art at  Vecteezy">
            <a:extLst>
              <a:ext uri="{FF2B5EF4-FFF2-40B4-BE49-F238E27FC236}">
                <a16:creationId xmlns:a16="http://schemas.microsoft.com/office/drawing/2014/main" id="{CCEA1CDB-E7E0-96F1-D9F5-7204863C5B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232" t="16575" r="9631" b="13820"/>
          <a:stretch>
            <a:fillRect/>
          </a:stretch>
        </p:blipFill>
        <p:spPr bwMode="auto">
          <a:xfrm>
            <a:off x="2014925" y="1826219"/>
            <a:ext cx="8162150" cy="368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black and grey computer screen&#10;&#10;AI-generated content may be incorrect.">
            <a:extLst>
              <a:ext uri="{FF2B5EF4-FFF2-40B4-BE49-F238E27FC236}">
                <a16:creationId xmlns:a16="http://schemas.microsoft.com/office/drawing/2014/main" id="{4F3F6C1C-285A-8385-16DB-CECECC0178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aintStrok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12228" y="3153972"/>
            <a:ext cx="1612368" cy="1612368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FB93E25-98A5-A653-7978-97487520320A}"/>
              </a:ext>
            </a:extLst>
          </p:cNvPr>
          <p:cNvSpPr/>
          <p:nvPr/>
        </p:nvSpPr>
        <p:spPr>
          <a:xfrm>
            <a:off x="5163671" y="2407021"/>
            <a:ext cx="1909482" cy="3106271"/>
          </a:xfrm>
          <a:prstGeom prst="round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6AB261-B847-4D1D-EB9F-F8A463EBAAA8}"/>
              </a:ext>
            </a:extLst>
          </p:cNvPr>
          <p:cNvCxnSpPr>
            <a:cxnSpLocks/>
          </p:cNvCxnSpPr>
          <p:nvPr/>
        </p:nvCxnSpPr>
        <p:spPr>
          <a:xfrm flipH="1">
            <a:off x="7516906" y="1936376"/>
            <a:ext cx="1344706" cy="7126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64403D9-26D3-70C0-9C24-2203D2837EF8}"/>
              </a:ext>
            </a:extLst>
          </p:cNvPr>
          <p:cNvSpPr txBox="1"/>
          <p:nvPr/>
        </p:nvSpPr>
        <p:spPr>
          <a:xfrm>
            <a:off x="7839635" y="929209"/>
            <a:ext cx="37079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LLMs are trained 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(Open Source Software) 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DEFB578-135C-B616-D43C-ABDCDBC46952}"/>
              </a:ext>
            </a:extLst>
          </p:cNvPr>
          <p:cNvSpPr/>
          <p:nvPr/>
        </p:nvSpPr>
        <p:spPr>
          <a:xfrm>
            <a:off x="3281081" y="4531659"/>
            <a:ext cx="715683" cy="981632"/>
          </a:xfrm>
          <a:prstGeom prst="roundRect">
            <a:avLst/>
          </a:prstGeom>
          <a:noFill/>
          <a:ln w="50800">
            <a:solidFill>
              <a:srgbClr val="BA0C2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1E18B9D-3BFC-3570-EC99-9DCAED068F46}"/>
              </a:ext>
            </a:extLst>
          </p:cNvPr>
          <p:cNvCxnSpPr>
            <a:cxnSpLocks/>
          </p:cNvCxnSpPr>
          <p:nvPr/>
        </p:nvCxnSpPr>
        <p:spPr>
          <a:xfrm>
            <a:off x="2635624" y="2649071"/>
            <a:ext cx="851647" cy="16674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EE53844-4A4B-C045-8C4D-251B326BDBEB}"/>
              </a:ext>
            </a:extLst>
          </p:cNvPr>
          <p:cNvSpPr txBox="1"/>
          <p:nvPr/>
        </p:nvSpPr>
        <p:spPr>
          <a:xfrm>
            <a:off x="1587974" y="1992007"/>
            <a:ext cx="22602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Decompilation</a:t>
            </a:r>
          </a:p>
        </p:txBody>
      </p:sp>
    </p:spTree>
    <p:extLst>
      <p:ext uri="{BB962C8B-B14F-4D97-AF65-F5344CB8AC3E}">
        <p14:creationId xmlns:p14="http://schemas.microsoft.com/office/powerpoint/2010/main" val="2115525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1543</TotalTime>
  <Words>1491</Words>
  <Application>Microsoft Macintosh PowerPoint</Application>
  <PresentationFormat>Widescreen</PresentationFormat>
  <Paragraphs>186</Paragraphs>
  <Slides>42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Aptos</vt:lpstr>
      <vt:lpstr>Aptos Display</vt:lpstr>
      <vt:lpstr>Arial</vt:lpstr>
      <vt:lpstr>Calibri</vt:lpstr>
      <vt:lpstr>Consolas</vt:lpstr>
      <vt:lpstr>Economica</vt:lpstr>
      <vt:lpstr>Roboto</vt:lpstr>
      <vt:lpstr>Roboto Light</vt:lpstr>
      <vt:lpstr>Office Theme</vt:lpstr>
      <vt:lpstr>Kuna:  Building a Competitive C Decompiler Through Autonomous AI Research</vt:lpstr>
      <vt:lpstr>BUG ARE EVERYHWHERE!!1!</vt:lpstr>
      <vt:lpstr>LLMs and Source Code</vt:lpstr>
      <vt:lpstr>What About Closed-Source Binaries?</vt:lpstr>
      <vt:lpstr>What About Closed-Source Binaries?</vt:lpstr>
      <vt:lpstr>LLMs and Binaries</vt:lpstr>
      <vt:lpstr>LLMs and Binaries and Less Bugs </vt:lpstr>
      <vt:lpstr>LLMs and Decompilers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Autonomous Refinement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Exact Source Recovery on 34k C Samples</vt:lpstr>
      <vt:lpstr>Exact Source Recovery on 34k C Samples</vt:lpstr>
      <vt:lpstr>Exact Source Recovery on 34k C Samples</vt:lpstr>
      <vt:lpstr>Exact Source Recovery on 34k C Samples</vt:lpstr>
      <vt:lpstr>Exact Source Recovery on 34k C Samples</vt:lpstr>
      <vt:lpstr>Adoption</vt:lpstr>
      <vt:lpstr>PowerPoint Presentation</vt:lpstr>
      <vt:lpstr>How: Years of Research Work</vt:lpstr>
      <vt:lpstr>Starting with Known Features</vt:lpstr>
      <vt:lpstr>Starting with Known Features</vt:lpstr>
      <vt:lpstr>Stacking Small (Novel) Wins</vt:lpstr>
      <vt:lpstr>Where are the Fundamental Wins?</vt:lpstr>
      <vt:lpstr>Next Phase: Investigating Foundational Changes</vt:lpstr>
      <vt:lpstr>Mahalo(z)!</vt:lpstr>
      <vt:lpstr>Climbing: Commits</vt:lpstr>
      <vt:lpstr>Climbing: All Metrics</vt:lpstr>
      <vt:lpstr>Changing Focus Over Time</vt:lpstr>
      <vt:lpstr>Why Is It Still Unsolved?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Ida Vass</dc:creator>
  <cp:lastModifiedBy>Zion Basque</cp:lastModifiedBy>
  <cp:revision>21</cp:revision>
  <dcterms:created xsi:type="dcterms:W3CDTF">2025-10-16T09:29:08Z</dcterms:created>
  <dcterms:modified xsi:type="dcterms:W3CDTF">2026-10-28T17:34:43Z</dcterms:modified>
</cp:coreProperties>
</file>